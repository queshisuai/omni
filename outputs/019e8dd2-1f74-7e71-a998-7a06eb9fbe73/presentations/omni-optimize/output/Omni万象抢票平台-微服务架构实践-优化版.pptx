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efa30ebeda469a" /><Relationship Type="http://schemas.openxmlformats.org/officeDocument/2006/relationships/extended-properties" Target="/docProps/app.xml" Id="Rce8d795cfbfc4bd1" /><Relationship Type="http://schemas.openxmlformats.org/officeDocument/2006/relationships/officeDocument" Target="/ppt/presentation.xml" Id="R42f852548ff345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8ba0f735004084"/>
  </p:sldMasterIdLst>
  <p:notesMasterIdLst>
    <p:notesMasterId xmlns:r="http://schemas.openxmlformats.org/officeDocument/2006/relationships" r:id="R820e50f02fb8460b"/>
  </p:notesMasterIdLst>
  <p:sldIdLst>
    <p:sldId xmlns:r="http://schemas.openxmlformats.org/officeDocument/2006/relationships" id="256" r:id="R8527a6b22bbb4a85"/>
    <p:sldId xmlns:r="http://schemas.openxmlformats.org/officeDocument/2006/relationships" id="257" r:id="R587076baf9c44765"/>
    <p:sldId xmlns:r="http://schemas.openxmlformats.org/officeDocument/2006/relationships" id="258" r:id="R22d56ef8ae4245e1"/>
    <p:sldId xmlns:r="http://schemas.openxmlformats.org/officeDocument/2006/relationships" id="259" r:id="R7492116d42864391"/>
    <p:sldId xmlns:r="http://schemas.openxmlformats.org/officeDocument/2006/relationships" id="260" r:id="Re5280295bc394226"/>
    <p:sldId xmlns:r="http://schemas.openxmlformats.org/officeDocument/2006/relationships" id="261" r:id="Rd0c36c48dcdf4196"/>
    <p:sldId xmlns:r="http://schemas.openxmlformats.org/officeDocument/2006/relationships" id="262" r:id="Rbdcb1d0b331847bb"/>
    <p:sldId xmlns:r="http://schemas.openxmlformats.org/officeDocument/2006/relationships" id="263" r:id="R7d2bccfbc96d4afa"/>
    <p:sldId xmlns:r="http://schemas.openxmlformats.org/officeDocument/2006/relationships" id="264" r:id="Rdd44cdd742cd4c2c"/>
    <p:sldId xmlns:r="http://schemas.openxmlformats.org/officeDocument/2006/relationships" id="265" r:id="Rfadb38292fa64b44"/>
    <p:sldId xmlns:r="http://schemas.openxmlformats.org/officeDocument/2006/relationships" id="266" r:id="Rdfdda62dd9cb4425"/>
    <p:sldId xmlns:r="http://schemas.openxmlformats.org/officeDocument/2006/relationships" id="267" r:id="Ra64f8a37ba3b49ac"/>
    <p:sldId xmlns:r="http://schemas.openxmlformats.org/officeDocument/2006/relationships" id="268" r:id="Rcd0f25de20e94dff"/>
    <p:sldId xmlns:r="http://schemas.openxmlformats.org/officeDocument/2006/relationships" id="269" r:id="Rb24ca1c2aae54794"/>
    <p:sldId xmlns:r="http://schemas.openxmlformats.org/officeDocument/2006/relationships" id="270" r:id="R8ef28b6554c34fcf"/>
    <p:sldId xmlns:r="http://schemas.openxmlformats.org/officeDocument/2006/relationships" id="271" r:id="R8ace873a4c0e48e4"/>
    <p:sldId xmlns:r="http://schemas.openxmlformats.org/officeDocument/2006/relationships" id="272" r:id="R094cfd68fac64c9a"/>
    <p:sldId xmlns:r="http://schemas.openxmlformats.org/officeDocument/2006/relationships" id="273" r:id="R40278e8023294d9a"/>
    <p:sldId xmlns:r="http://schemas.openxmlformats.org/officeDocument/2006/relationships" id="274" r:id="R105a6fd150694f67"/>
    <p:sldId xmlns:r="http://schemas.openxmlformats.org/officeDocument/2006/relationships" id="275" r:id="Rd9dfe90a3c704885"/>
    <p:sldId xmlns:r="http://schemas.openxmlformats.org/officeDocument/2006/relationships" id="276" r:id="R7d38dc3362104b65"/>
    <p:sldId xmlns:r="http://schemas.openxmlformats.org/officeDocument/2006/relationships" id="277" r:id="Raabde1cb128c46e4"/>
    <p:sldId xmlns:r="http://schemas.openxmlformats.org/officeDocument/2006/relationships" id="278" r:id="R612adf70401647a7"/>
    <p:sldId xmlns:r="http://schemas.openxmlformats.org/officeDocument/2006/relationships" id="279" r:id="R4c113f45bf9e4932"/>
    <p:sldId xmlns:r="http://schemas.openxmlformats.org/officeDocument/2006/relationships" id="280" r:id="Ra8196b79243c4be5"/>
    <p:sldId xmlns:r="http://schemas.openxmlformats.org/officeDocument/2006/relationships" id="281" r:id="Re80f208e40bc42fa"/>
    <p:sldId xmlns:r="http://schemas.openxmlformats.org/officeDocument/2006/relationships" id="282" r:id="R510ee442132449a1"/>
    <p:sldId xmlns:r="http://schemas.openxmlformats.org/officeDocument/2006/relationships" id="283" r:id="R29f496d0ee7c4e6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a774b3ae9749b7" /><Relationship Type="http://schemas.openxmlformats.org/officeDocument/2006/relationships/slideMaster" Target="/ppt/slideMasters/slideMaster1.xml" Id="R6c8ba0f735004084" /><Relationship Type="http://schemas.openxmlformats.org/officeDocument/2006/relationships/notesMaster" Target="/ppt/notesMasters/notesMaster1.xml" Id="R820e50f02fb8460b" /><Relationship Type="http://schemas.openxmlformats.org/officeDocument/2006/relationships/presProps" Target="/ppt/presProps.xml" Id="Rf21598c9a0864c3c" /><Relationship Type="http://schemas.openxmlformats.org/officeDocument/2006/relationships/viewProps" Target="/ppt/viewProps.xml" Id="R8994c835c1b742ab" /><Relationship Type="http://schemas.openxmlformats.org/officeDocument/2006/relationships/tableStyles" Target="/ppt/tableStyles.xml" Id="Ra742d83af64b4a42" /><Relationship Type="http://schemas.openxmlformats.org/officeDocument/2006/relationships/slide" Target="/ppt/slides/slide1.xml" Id="R8527a6b22bbb4a85" /><Relationship Type="http://schemas.openxmlformats.org/officeDocument/2006/relationships/slide" Target="/ppt/slides/slide2.xml" Id="R587076baf9c44765" /><Relationship Type="http://schemas.openxmlformats.org/officeDocument/2006/relationships/slide" Target="/ppt/slides/slide3.xml" Id="R22d56ef8ae4245e1" /><Relationship Type="http://schemas.openxmlformats.org/officeDocument/2006/relationships/slide" Target="/ppt/slides/slide4.xml" Id="R7492116d42864391" /><Relationship Type="http://schemas.openxmlformats.org/officeDocument/2006/relationships/slide" Target="/ppt/slides/slide5.xml" Id="Re5280295bc394226" /><Relationship Type="http://schemas.openxmlformats.org/officeDocument/2006/relationships/slide" Target="/ppt/slides/slide6.xml" Id="Rd0c36c48dcdf4196" /><Relationship Type="http://schemas.openxmlformats.org/officeDocument/2006/relationships/slide" Target="/ppt/slides/slide7.xml" Id="Rbdcb1d0b331847bb" /><Relationship Type="http://schemas.openxmlformats.org/officeDocument/2006/relationships/slide" Target="/ppt/slides/slide8.xml" Id="R7d2bccfbc96d4afa" /><Relationship Type="http://schemas.openxmlformats.org/officeDocument/2006/relationships/slide" Target="/ppt/slides/slide9.xml" Id="Rdd44cdd742cd4c2c" /><Relationship Type="http://schemas.openxmlformats.org/officeDocument/2006/relationships/slide" Target="/ppt/slides/slide10.xml" Id="Rfadb38292fa64b44" /><Relationship Type="http://schemas.openxmlformats.org/officeDocument/2006/relationships/slide" Target="/ppt/slides/slide11.xml" Id="Rdfdda62dd9cb4425" /><Relationship Type="http://schemas.openxmlformats.org/officeDocument/2006/relationships/slide" Target="/ppt/slides/slide12.xml" Id="Ra64f8a37ba3b49ac" /><Relationship Type="http://schemas.openxmlformats.org/officeDocument/2006/relationships/slide" Target="/ppt/slides/slide13.xml" Id="Rcd0f25de20e94dff" /><Relationship Type="http://schemas.openxmlformats.org/officeDocument/2006/relationships/slide" Target="/ppt/slides/slide14.xml" Id="Rb24ca1c2aae54794" /><Relationship Type="http://schemas.openxmlformats.org/officeDocument/2006/relationships/slide" Target="/ppt/slides/slide15.xml" Id="R8ef28b6554c34fcf" /><Relationship Type="http://schemas.openxmlformats.org/officeDocument/2006/relationships/slide" Target="/ppt/slides/slide16.xml" Id="R8ace873a4c0e48e4" /><Relationship Type="http://schemas.openxmlformats.org/officeDocument/2006/relationships/slide" Target="/ppt/slides/slide17.xml" Id="R094cfd68fac64c9a" /><Relationship Type="http://schemas.openxmlformats.org/officeDocument/2006/relationships/slide" Target="/ppt/slides/slide18.xml" Id="R40278e8023294d9a" /><Relationship Type="http://schemas.openxmlformats.org/officeDocument/2006/relationships/slide" Target="/ppt/slides/slide19.xml" Id="R105a6fd150694f67" /><Relationship Type="http://schemas.openxmlformats.org/officeDocument/2006/relationships/slide" Target="/ppt/slides/slide20.xml" Id="Rd9dfe90a3c704885" /><Relationship Type="http://schemas.openxmlformats.org/officeDocument/2006/relationships/slide" Target="/ppt/slides/slide21.xml" Id="R7d38dc3362104b65" /><Relationship Type="http://schemas.openxmlformats.org/officeDocument/2006/relationships/slide" Target="/ppt/slides/slide22.xml" Id="Raabde1cb128c46e4" /><Relationship Type="http://schemas.openxmlformats.org/officeDocument/2006/relationships/slide" Target="/ppt/slides/slide23.xml" Id="R612adf70401647a7" /><Relationship Type="http://schemas.openxmlformats.org/officeDocument/2006/relationships/slide" Target="/ppt/slides/slide24.xml" Id="R4c113f45bf9e4932" /><Relationship Type="http://schemas.openxmlformats.org/officeDocument/2006/relationships/slide" Target="/ppt/slides/slide25.xml" Id="Ra8196b79243c4be5" /><Relationship Type="http://schemas.openxmlformats.org/officeDocument/2006/relationships/slide" Target="/ppt/slides/slide26.xml" Id="Re80f208e40bc42fa" /><Relationship Type="http://schemas.openxmlformats.org/officeDocument/2006/relationships/slide" Target="/ppt/slides/slide27.xml" Id="R510ee442132449a1" /><Relationship Type="http://schemas.openxmlformats.org/officeDocument/2006/relationships/slide" Target="/ppt/slides/slide28.xml" Id="R29f496d0ee7c4e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de9e37ccc041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76a3ce73254f5c" /><Relationship Type="http://schemas.openxmlformats.org/officeDocument/2006/relationships/notesMaster" Target="/ppt/notesMasters/notesMaster1.xml" Id="Rbf2dc912b0ab42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ab761117b9a4740" /><Relationship Type="http://schemas.openxmlformats.org/officeDocument/2006/relationships/notesMaster" Target="/ppt/notesMasters/notesMaster1.xml" Id="Raaffffcb552c4a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6839eebc5246cf" /><Relationship Type="http://schemas.openxmlformats.org/officeDocument/2006/relationships/notesMaster" Target="/ppt/notesMasters/notesMaster1.xml" Id="R651db67a5ccb45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7f3c63faed48b3" /><Relationship Type="http://schemas.openxmlformats.org/officeDocument/2006/relationships/notesMaster" Target="/ppt/notesMasters/notesMaster1.xml" Id="Re0c46e5c345749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5b9d073f254d49" /><Relationship Type="http://schemas.openxmlformats.org/officeDocument/2006/relationships/notesMaster" Target="/ppt/notesMasters/notesMaster1.xml" Id="R083936915ae648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6c6b036293d44f7" /><Relationship Type="http://schemas.openxmlformats.org/officeDocument/2006/relationships/notesMaster" Target="/ppt/notesMasters/notesMaster1.xml" Id="Rab0b3eccf8f447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d69424d237e4b78" /><Relationship Type="http://schemas.openxmlformats.org/officeDocument/2006/relationships/notesMaster" Target="/ppt/notesMasters/notesMaster1.xml" Id="Rb218793a514c405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98a8267e05a4420" /><Relationship Type="http://schemas.openxmlformats.org/officeDocument/2006/relationships/notesMaster" Target="/ppt/notesMasters/notesMaster1.xml" Id="R2e157c9b6f7d492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018e845aa5b4a8e" /><Relationship Type="http://schemas.openxmlformats.org/officeDocument/2006/relationships/notesMaster" Target="/ppt/notesMasters/notesMaster1.xml" Id="R9c0ea858f7514ee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24cc7ef47b34135" /><Relationship Type="http://schemas.openxmlformats.org/officeDocument/2006/relationships/notesMaster" Target="/ppt/notesMasters/notesMaster1.xml" Id="R3446f7ffe1f54d0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6ad687378484e20" /><Relationship Type="http://schemas.openxmlformats.org/officeDocument/2006/relationships/notesMaster" Target="/ppt/notesMasters/notesMaster1.xml" Id="R7bef1fbd39e7472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cbd38965cc5417b" /><Relationship Type="http://schemas.openxmlformats.org/officeDocument/2006/relationships/notesMaster" Target="/ppt/notesMasters/notesMaster1.xml" Id="Re0edce7578ba4ff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8cc72f64294498c" /><Relationship Type="http://schemas.openxmlformats.org/officeDocument/2006/relationships/notesMaster" Target="/ppt/notesMasters/notesMaster1.xml" Id="Re051d5571e844da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3df18c8773d4adf" /><Relationship Type="http://schemas.openxmlformats.org/officeDocument/2006/relationships/notesMaster" Target="/ppt/notesMasters/notesMaster1.xml" Id="Rd515402fb3a342d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4bd68ddf5554e8e" /><Relationship Type="http://schemas.openxmlformats.org/officeDocument/2006/relationships/notesMaster" Target="/ppt/notesMasters/notesMaster1.xml" Id="Rded76f0cf2254d7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f50eecfaa9f47e5" /><Relationship Type="http://schemas.openxmlformats.org/officeDocument/2006/relationships/notesMaster" Target="/ppt/notesMasters/notesMaster1.xml" Id="Rf4c80596eff5408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2d0ad1e28f44275" /><Relationship Type="http://schemas.openxmlformats.org/officeDocument/2006/relationships/notesMaster" Target="/ppt/notesMasters/notesMaster1.xml" Id="Rd3c9010f8e12452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82a7089fd4d4755" /><Relationship Type="http://schemas.openxmlformats.org/officeDocument/2006/relationships/notesMaster" Target="/ppt/notesMasters/notesMaster1.xml" Id="R5000867777a5462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ad6ce3a02fa4411" /><Relationship Type="http://schemas.openxmlformats.org/officeDocument/2006/relationships/notesMaster" Target="/ppt/notesMasters/notesMaster1.xml" Id="Re28ad1be15b84dc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29f2a7df644472d" /><Relationship Type="http://schemas.openxmlformats.org/officeDocument/2006/relationships/notesMaster" Target="/ppt/notesMasters/notesMaster1.xml" Id="R447a3bb73545421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2ec5f0a294d438c" /><Relationship Type="http://schemas.openxmlformats.org/officeDocument/2006/relationships/notesMaster" Target="/ppt/notesMasters/notesMaster1.xml" Id="R79250f7918544dd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7cf12553a0a4783" /><Relationship Type="http://schemas.openxmlformats.org/officeDocument/2006/relationships/notesMaster" Target="/ppt/notesMasters/notesMaster1.xml" Id="Rdb82dbcda10f4cd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5034f8800114d1a" /><Relationship Type="http://schemas.openxmlformats.org/officeDocument/2006/relationships/notesMaster" Target="/ppt/notesMasters/notesMaster1.xml" Id="Rdea5b87b9e61460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7702ec5b53f42f5" /><Relationship Type="http://schemas.openxmlformats.org/officeDocument/2006/relationships/notesMaster" Target="/ppt/notesMasters/notesMaster1.xml" Id="Rf06ff2581127431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9c8829e774d4a5a" /><Relationship Type="http://schemas.openxmlformats.org/officeDocument/2006/relationships/notesMaster" Target="/ppt/notesMasters/notesMaster1.xml" Id="R5eb91da9b156478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21cbb100dc84580" /><Relationship Type="http://schemas.openxmlformats.org/officeDocument/2006/relationships/notesMaster" Target="/ppt/notesMasters/notesMaster1.xml" Id="R45ebae78dd254ef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b80c7ce60cc4b15" /><Relationship Type="http://schemas.openxmlformats.org/officeDocument/2006/relationships/notesMaster" Target="/ppt/notesMasters/notesMaster1.xml" Id="R25d96a01ec17419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995aa92054146a8" /><Relationship Type="http://schemas.openxmlformats.org/officeDocument/2006/relationships/notesMaster" Target="/ppt/notesMasters/notesMaster1.xml" Id="R1d0901a4a89642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4be11a070a40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37921ab408443e" /><Relationship Type="http://schemas.openxmlformats.org/officeDocument/2006/relationships/slideLayout" Target="/ppt/slideLayouts/slideLayout1.xml" Id="R7f59dde159c644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59dde159c644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429cef1ecc4081" /><Relationship Type="http://schemas.openxmlformats.org/officeDocument/2006/relationships/notesSlide" Target="/ppt/notesSlides/notesSlide1.xml" Id="Rbb4643a410234c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a93d9356224084" /><Relationship Type="http://schemas.openxmlformats.org/officeDocument/2006/relationships/notesSlide" Target="/ppt/notesSlides/notesSlide2.xml" Id="R9da9745fd6464d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649f8dbd46486b" /><Relationship Type="http://schemas.openxmlformats.org/officeDocument/2006/relationships/notesSlide" Target="/ppt/notesSlides/notesSlide3.xml" Id="Rb9671cc273a44e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b2ccb4a7db41c4" /><Relationship Type="http://schemas.openxmlformats.org/officeDocument/2006/relationships/notesSlide" Target="/ppt/notesSlides/notesSlide4.xml" Id="R9fbec18f460141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5e3d22d80a492e" /><Relationship Type="http://schemas.openxmlformats.org/officeDocument/2006/relationships/notesSlide" Target="/ppt/notesSlides/notesSlide5.xml" Id="R4ff53db86f9244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81aada65b04004" /><Relationship Type="http://schemas.openxmlformats.org/officeDocument/2006/relationships/notesSlide" Target="/ppt/notesSlides/notesSlide6.xml" Id="Ra6efb97b7b274ff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621fff77cb4b56" /><Relationship Type="http://schemas.openxmlformats.org/officeDocument/2006/relationships/notesSlide" Target="/ppt/notesSlides/notesSlide7.xml" Id="R831b12393a3f4d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69048cb6dd47b2" /><Relationship Type="http://schemas.openxmlformats.org/officeDocument/2006/relationships/notesSlide" Target="/ppt/notesSlides/notesSlide8.xml" Id="R5306855a11c841f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22a8bc7e0440f1" /><Relationship Type="http://schemas.openxmlformats.org/officeDocument/2006/relationships/notesSlide" Target="/ppt/notesSlides/notesSlide9.xml" Id="Ra9846365be894a7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43170f486f4d53" /><Relationship Type="http://schemas.openxmlformats.org/officeDocument/2006/relationships/notesSlide" Target="/ppt/notesSlides/notesSlide10.xml" Id="Rae9467da8b86464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44d2f0b7d34f8c" /><Relationship Type="http://schemas.openxmlformats.org/officeDocument/2006/relationships/notesSlide" Target="/ppt/notesSlides/notesSlide11.xml" Id="R68e68eb6b47c40e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4772d4172d4459" /><Relationship Type="http://schemas.openxmlformats.org/officeDocument/2006/relationships/notesSlide" Target="/ppt/notesSlides/notesSlide12.xml" Id="Re3fa0a3d8cbf4a4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b6acc8a0914ff1" /><Relationship Type="http://schemas.openxmlformats.org/officeDocument/2006/relationships/notesSlide" Target="/ppt/notesSlides/notesSlide13.xml" Id="R94957b97b2984bf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a7b5e05d244872" /><Relationship Type="http://schemas.openxmlformats.org/officeDocument/2006/relationships/notesSlide" Target="/ppt/notesSlides/notesSlide14.xml" Id="R5c8d066618544d5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a4483092a0409a" /><Relationship Type="http://schemas.openxmlformats.org/officeDocument/2006/relationships/notesSlide" Target="/ppt/notesSlides/notesSlide15.xml" Id="Rc19c1f1b5214441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a5e446a7994482" /><Relationship Type="http://schemas.openxmlformats.org/officeDocument/2006/relationships/notesSlide" Target="/ppt/notesSlides/notesSlide16.xml" Id="Rd9112e9a56744dc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403c2e8fca451a" /><Relationship Type="http://schemas.openxmlformats.org/officeDocument/2006/relationships/notesSlide" Target="/ppt/notesSlides/notesSlide17.xml" Id="R6f9d4c9919ce474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561e0543cd47be" /><Relationship Type="http://schemas.openxmlformats.org/officeDocument/2006/relationships/notesSlide" Target="/ppt/notesSlides/notesSlide18.xml" Id="R3c1177c87443420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f98fe6bb19478f" /><Relationship Type="http://schemas.openxmlformats.org/officeDocument/2006/relationships/notesSlide" Target="/ppt/notesSlides/notesSlide19.xml" Id="R084e7855eb57413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0985d8a3a4424e" /><Relationship Type="http://schemas.openxmlformats.org/officeDocument/2006/relationships/notesSlide" Target="/ppt/notesSlides/notesSlide20.xml" Id="R556d230e01a140d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6d6aa5ffce468e" /><Relationship Type="http://schemas.openxmlformats.org/officeDocument/2006/relationships/notesSlide" Target="/ppt/notesSlides/notesSlide21.xml" Id="R9e9c83553ec84f4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ad16fdb9414592" /><Relationship Type="http://schemas.openxmlformats.org/officeDocument/2006/relationships/notesSlide" Target="/ppt/notesSlides/notesSlide22.xml" Id="R19aaf507851a4f6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d6d9d1114b4c62" /><Relationship Type="http://schemas.openxmlformats.org/officeDocument/2006/relationships/notesSlide" Target="/ppt/notesSlides/notesSlide23.xml" Id="R9db8cfbf52194c9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e7d73d31c94641" /><Relationship Type="http://schemas.openxmlformats.org/officeDocument/2006/relationships/notesSlide" Target="/ppt/notesSlides/notesSlide24.xml" Id="R84760bbfee70423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584fd0b367428d" /><Relationship Type="http://schemas.openxmlformats.org/officeDocument/2006/relationships/notesSlide" Target="/ppt/notesSlides/notesSlide25.xml" Id="Ra27efb4917414f6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dda87387b54e70" /><Relationship Type="http://schemas.openxmlformats.org/officeDocument/2006/relationships/notesSlide" Target="/ppt/notesSlides/notesSlide26.xml" Id="Rb192b7b42a9f45a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ece242bf0146a2" /><Relationship Type="http://schemas.openxmlformats.org/officeDocument/2006/relationships/notesSlide" Target="/ppt/notesSlides/notesSlide27.xml" Id="R8878eba6dd064d1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6a30e496874c88" /><Relationship Type="http://schemas.openxmlformats.org/officeDocument/2006/relationships/notesSlide" Target="/ppt/notesSlides/notesSlide28.xml" Id="Rf14b9126c945408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DACA67-0840-4D1B-858C-E64BD578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77FEA6-1A6B-4425-B832-9FE44A3D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44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782B6A-F1D9-41BE-B01F-2974C914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62000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MICROSERVICE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8DA257-4DD2-456F-B42A-1AEFE868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6858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Omni 万象抢票平台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79A89C-2E66-4EFC-94AB-6BF32147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619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2F4F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2F4F7"/>
                </a:solidFill>
                <a:latin typeface="Aptos"/>
                <a:ea typeface="Aptos"/>
                <a:cs typeface="Aptos"/>
              </a:rPr>
              <a:t>微服务架构实践与答辩优化版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2A3E97-DBE4-4C5C-A4E2-D29BEA3D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0D5D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0D5DD"/>
                </a:solidFill>
                <a:latin typeface="Aptos"/>
                <a:ea typeface="Aptos"/>
                <a:cs typeface="Aptos"/>
              </a:rPr>
              <a:t>时间：2026/06/04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2A1EFA-3447-4CEC-9142-664443DA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126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1268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1A228E-5F55-4080-BFCC-8EDC8BB1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五个业务微服务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879E4C-8D4B-48BE-99C8-E734B2B0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答辩主线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D8BFCA-6D9E-4C12-95B0-02FC2B93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67200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A83F45-0F23-4DA9-AFB9-48E5D6A4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6863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八个中间件/基础设施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1A42AF-B2EA-42A8-A6E9-C3489550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1490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答辩主线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74FE91-AC38-4A16-91B9-8115A093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267200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A78BF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A78BF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C108CA-DD42-4D25-BEAF-FB1C72AB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863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六人三组协作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80F00C-114D-48AF-8B3E-BEDA1721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91490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答辩主线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96BE7E-AD3B-4917-9AA3-1155AAAC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67200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五库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704376-DA9F-4FFA-8603-F8AE238D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863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prod-split 五库联调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CF341B-D35A-41B0-9627-39D879BC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1490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prod-split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471FFA-D99F-4E13-86BE-F96A8BFE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876300"/>
            <a:ext cx="323850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4405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CD2737-F3E2-46FA-8850-138B76AF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28750"/>
            <a:ext cx="895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9001CE-53B7-453A-85A1-DB899C82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562100"/>
            <a:ext cx="781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D01CCC-C7F1-48F0-8843-B06A7DB0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81200"/>
            <a:ext cx="895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CBFF99-0E61-456F-A3EC-1AD4B92A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14550"/>
            <a:ext cx="781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ticket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B138AD-009B-4285-A9DC-994C41A8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33650"/>
            <a:ext cx="895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D527C6-B95B-4B43-81B6-B67AEB68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67000"/>
            <a:ext cx="781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order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DA582F-7F3D-4F0F-913E-04A248FC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86100"/>
            <a:ext cx="895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A617F8-6FF7-4ACD-9CB9-BCDC374A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19450"/>
            <a:ext cx="781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payment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B628D1-2933-4404-91D5-13FB2F7D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38550"/>
            <a:ext cx="895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BB6EBA-F34D-49B5-B309-CCA9E759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71900"/>
            <a:ext cx="781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notice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32ED91-E4CC-40B5-8083-3CD845F1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624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9050">
            <a:solidFill>
              <a:srgbClr val="2DD4B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982C4B-368E-4FE9-A0A4-8B8EA153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148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可联调 · 可验证 · 可答辩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29867D-E143-4AC5-9A88-C7C59C27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0D5D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0D5DD"/>
                </a:solidFill>
                <a:latin typeface="Aptos"/>
                <a:ea typeface="Aptos"/>
                <a:cs typeface="Aptos"/>
              </a:rPr>
              <a:t>Omni 万象抢票平台 | 答辩演示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E57E93-4962-40F8-AFF0-DC3D38F7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0D5D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0D5D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1202149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F609AD-B81B-4F3F-85CA-1D987FD8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0AE436-A8D0-4B90-B003-BEB5EC61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目录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6797D3-EDCA-4996-B7C0-8B1478CF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2400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461044-3157-4841-AA12-A5A29774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66691A-5A0B-412B-AA54-9A2F5234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09725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项目概述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B13056-8033-45D3-805D-AF8DBC5B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62125"/>
            <a:ext cx="161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E6A168-1A59-4401-AA58-2D2A82D5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D49F11-3FFA-4947-855A-89751018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0F685F-99B4-4D0B-AA1A-684BF0A3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428875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需求与业务设计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ADDF42-CEE1-40B6-AE74-569AC552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81275"/>
            <a:ext cx="161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8FD907-195D-479D-916F-795C634B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6230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ADA651-ACA9-45BE-A597-A1882F49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956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13EB82-689C-4DD4-9265-247C5CDD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248025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系统架构与技术实现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646984-AECF-4652-9AE6-0BC80F21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00425"/>
            <a:ext cx="161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245C1E-4D76-4433-B049-638496E7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2E56A4-5646-484F-9733-AA31E852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148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D076D2-7F83-4C59-98DA-FBFD42ED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067175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前端展示与系统演示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D780D5-B5B3-4CDC-9319-9DD6599B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19575"/>
            <a:ext cx="161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1CAE07-3A5E-4931-B75B-C77D7D7A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0060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A18972-5A2C-46FF-934E-9E4DCC9F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339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8ECDA3-DE15-4715-9238-AB29EDFD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886325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测试总结与展望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D61E70-38F7-496A-BDC5-716E41DF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038725"/>
            <a:ext cx="161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CC35FE-391C-4EBE-A170-6CD08EE6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Omni 万象抢票平台 | 答辩演示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25F815-3EB1-4DAE-8B5B-F18C072BF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7298195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0BFDE9-0391-43DD-ACBC-E7C2206C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A54550-7E68-472E-90C4-8831BC9B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144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SECTION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8F842A-A7F9-4D80-92E3-B8F05182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590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BE3526-6F6D-4122-9968-D92E18AA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项目概述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C4C191-FB50-4F57-864F-F3880649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685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0D5D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0D5DD"/>
                </a:solidFill>
                <a:latin typeface="Aptos"/>
                <a:ea typeface="Aptos"/>
                <a:cs typeface="Aptos"/>
              </a:rPr>
              <a:t>先说明项目做什么、为什么做、团队如何协作。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9BBE04-B5F0-49CE-976E-E3D9FA54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31445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440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ABDB0F-4C5D-4C26-BC73-2F1C6A2E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00250"/>
            <a:ext cx="15049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700" b="1">
                <a:solidFill>
                  <a:srgbClr val="FF1268"/>
                </a:solidFill>
                <a:latin typeface="Aptos"/>
                <a:ea typeface="Aptos"/>
                <a:cs typeface="Aptos"/>
              </a:defRPr>
            </a:pPr>
            <a:r>
              <a:rPr sz="5700" b="1">
                <a:solidFill>
                  <a:srgbClr val="FF126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E5B153-76F4-4FA3-874C-64CC3418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0D5D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0D5DD"/>
                </a:solidFill>
                <a:latin typeface="Aptos"/>
                <a:ea typeface="Aptos"/>
                <a:cs typeface="Aptos"/>
              </a:rPr>
              <a:t>Omni 万象抢票平台 | 答辩演示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1413A8-8B86-4781-B23F-86E30CD8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0D5D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0D5D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718856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307E57-8B1B-44BE-9FDC-555182EB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072332-D63C-4DD1-ADF9-4A41DC76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BBC8AC-EB77-4134-A641-5DE27EFC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12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1268"/>
                </a:solidFill>
                <a:latin typeface="Aptos"/>
                <a:ea typeface="Aptos"/>
                <a:cs typeface="Aptos"/>
              </a:rPr>
              <a:t>PROJECT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7596F3-4F9E-4298-A516-6621858F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1000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项目定位从“抢票平台”落到一条完整交易闭环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2C87A3-88E3-4F44-8D90-523F84ECC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Omni 面向演出、赛事等票务场景，采用 B 端主导、C 端参与模式。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15760C-5AB7-44EB-8DB6-0D6303D6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Omni 万象抢票平台 | 答辩演示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FFE077-C549-4B05-8A51-FA2C1BC2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7A8C15-32F5-450E-A10D-4C5DFB20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4381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BB5FB6-1484-4218-AC7A-C7E88B9A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571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89785E-7080-4589-A484-B29D8CAF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52650"/>
            <a:ext cx="405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业务目标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1D5C77-A0F8-44D7-96D4-2C039F16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57450"/>
            <a:ext cx="405765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• C 端完成登录、浏览、选座、下单、支付、查看订单</a:t>
            </a:r>
          </a:p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• B 端完成活动、场次、票档、座位图与审核管理</a:t>
            </a:r>
          </a:p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• 订单、支付、通知形成交易结果闭环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6262E0-35EA-423F-B9D6-BE2A7EFB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00250"/>
            <a:ext cx="4381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F52A3D-5291-4AF8-8C2B-C293B79D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00250"/>
            <a:ext cx="571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FCE79C-5CC3-40D0-A95D-7429712A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52650"/>
            <a:ext cx="405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技术目标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7B80EE-654E-427A-87DB-055852C1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57450"/>
            <a:ext cx="405765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• Spring Cloud Alibaba 微服务</a:t>
            </a:r>
          </a:p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• Next.js 16 + React 19 前端</a:t>
            </a:r>
          </a:p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• PostgreSQL prod-split 五库联调</a:t>
            </a:r>
          </a:p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• internal API 约束服务边界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EEB3A9-B26C-4E4D-BC46-AD7AA5F7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667000"/>
            <a:ext cx="1238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390B10-974B-4C31-959E-0B7315C9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28950"/>
            <a:ext cx="95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Omni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4AF341-06EF-484D-8172-C1385CE6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290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D0D5D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0D5DD"/>
                </a:solidFill>
                <a:latin typeface="Aptos"/>
                <a:ea typeface="Aptos"/>
                <a:cs typeface="Aptos"/>
              </a:rPr>
              <a:t>票务平台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F37EA8-3377-4824-8CFE-97D57112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257550"/>
            <a:ext cx="2190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CE27A0-F30C-4207-A323-EEE44A12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209925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BAC87B-7597-4ABE-953F-EAEA58E1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257550"/>
            <a:ext cx="2190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0BD7CC-D612-4B33-968E-ED6AC7CF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09925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53622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E0BC71-AE3F-4D4D-AD74-01585C4F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0A3AEC-663E-4E0C-BE00-29709352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A3B7A8-59E2-443A-BC1B-D517BDC9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12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1268"/>
                </a:solidFill>
                <a:latin typeface="Aptos"/>
                <a:ea typeface="Aptos"/>
                <a:cs typeface="Aptos"/>
              </a:rPr>
              <a:t>BACKGROUND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1EB08B-2901-4135-A47E-18D6B331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1000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票务系统的难点集中在高峰流量、库存一致性和多角色协作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1472AB-F388-41F2-8DCA-C8842C10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Omni 万象抢票平台 | 答辩演示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A1D9A2-18ED-48C7-8246-2BE35F10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7D296A-0215-44CD-B68C-E6148453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476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43FDD0-3015-422D-BAB3-881894D3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E4B6BF-AEDA-4996-AB14-875E5F73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0500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流量高峰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5375F1-81E1-4880-9481-C5E54188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4438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热门活动开售时请求集中爆发，需要入口层、缓存和后端服务共同承压。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1BF504-5A80-40FC-BCF9-E4433681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52600"/>
            <a:ext cx="476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313DE4-B8FA-4451-BD70-EFF78972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526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D25C1F-28BE-4176-BF0C-D94933BF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0500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库存一致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30F089-4DCB-47BB-AD45-33FC648C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09800"/>
            <a:ext cx="4438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票档库存和座位售卖必须避免超卖，订单创建需要先锁定再确认。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18A0B7-EA3A-46FD-BFA3-3ACC4EE8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476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CD13CA-4805-4179-AEC5-738FA7BD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AD28FC-EB0C-4FA4-8215-2E824570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链路较长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FE91B3-17D8-4E17-BCDF-1A1A4773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4438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登录、活动、选座、订单、支付、通知跨多个服务协作。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4345AC-AE22-434D-80E4-B166D77F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19450"/>
            <a:ext cx="476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4AFEB6-9B8E-40AA-8DCB-8B2156B3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194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79082B-3E3B-491D-B2EA-EC1D70D6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7185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角色复杂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7367F2-E85F-4559-B93F-719199FD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76650"/>
            <a:ext cx="4438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普通用户、主办方、管理员对应不同权限和后台工作流。</a:t>
            </a:r>
          </a:p>
        </p:txBody>
      </p:sp>
    </p:spTree>
    <p:extLst>
      <p:ext uri="{BB962C8B-B14F-4D97-AF65-F5344CB8AC3E}">
        <p14:creationId xmlns:p14="http://schemas.microsoft.com/office/powerpoint/2010/main" val="137503250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936E7F-DE81-4DD6-B278-BB20123A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C09595-7072-42BF-9D3B-51C74E8C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126C96-F1E4-4274-BA06-78303DC1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12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1268"/>
                </a:solidFill>
                <a:latin typeface="Aptos"/>
                <a:ea typeface="Aptos"/>
                <a:cs typeface="Aptos"/>
              </a:rPr>
              <a:t>TEAM SPLIT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68DBA6-E740-4F49-83F0-2A44F0A7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1000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六人三组按业务链路分工，答辩能自然串成完整流程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29B3DD-4605-4224-BD69-27269BF8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Omni 万象抢票平台 | 答辩演示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513D18-EB68-4B7D-B91A-3E8916E4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F49F46-8AD6-4828-977A-F6A44B902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3143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6FBD4E-FC6F-4FA6-9F19-786EBE03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第 1 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2ABEC4-CBB0-40D6-AA64-E581C9A2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用户与入口层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C998F5-A311-49C4-AD9F-16B185AF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3143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208AC8-1A6F-45FE-90E7-687CE846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57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B21DEB-822E-4027-9624-20D3B19F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负责范围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87BECD-A2A7-44CF-859D-7D6D42F3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2819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java-user + java-gateway + 登录/权限前端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6C75E5-7033-4EA7-A0D6-6F384FEF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D958D9-5C59-4DC3-A41A-161AC9E6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C6CCE9-BE1D-40A5-A18C-8E6585D7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答辩重点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0E5737-9D78-4A68-B512-9129B185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2819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讲登录、JWT、角色、网关路由和 internal token。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611887-C0F6-403F-99EA-81E66485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09750"/>
            <a:ext cx="3143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8191C8-5D58-489C-98E6-75E4FBD3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431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第 2 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F8CB41-6318-4F62-ADBD-7A2E286A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717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票务核心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FA18C4-4936-458C-A877-29F55F5A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00350"/>
            <a:ext cx="3143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C20140-EA94-4933-AFED-0DDD7B26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00350"/>
            <a:ext cx="57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03A526-35FE-4B52-9D71-A7D2F381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5275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负责范围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AB554D-DD9B-4EAB-97B2-CC84DA22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57550"/>
            <a:ext cx="2819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java-ticket + 活动/票档/座位前端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05DE23-F3E5-4C45-A23A-BD406728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19550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CC8730-EA86-4A10-98CE-98DCFF1E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1955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AD8D8D-C4D3-4F8E-94A6-571C515A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17195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答辩重点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C94027-BE0C-4A31-8537-FCFEA5E2B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476750"/>
            <a:ext cx="2819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讲活动供给、SeatCraft、票档库存和锁库存接口。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64C7F4-B059-46E5-8F61-9AD86AC9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143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4C6966-644A-4D14-B487-B038CB47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431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第 3 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F8AEF8-266D-41B2-B78C-3C113375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717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交易闭环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C89EEB-D7A6-45A9-A481-02879664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00350"/>
            <a:ext cx="3143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F9791F-3AA8-4288-9831-D0BDDB61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00350"/>
            <a:ext cx="57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5EA49B-E05B-442D-B98A-5256B5567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5275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负责范围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8DB65F-53CA-4D82-9746-27C14833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57550"/>
            <a:ext cx="2819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java-order + java-payment + java-notification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0F5C752-2106-4D28-879B-C66E6289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19550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F8AF91-2F2B-41B4-A821-138D2F90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1955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B7C929F-4D80-4720-A9D6-FFD3B51B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答辩重点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5925B6-C42C-450F-B41C-0D1BA91F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76750"/>
            <a:ext cx="2819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讲订单快照、支付同步、退款通知和状态流转。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CEC86D7-F211-4B4B-BA5A-316B8A37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638800"/>
            <a:ext cx="9105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6575C80-263C-4083-86CC-A32078F8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753100"/>
            <a:ext cx="861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推荐串讲：登录拿 token -&gt; 浏览活动和选座 -&gt; 创建订单、支付、查看订单</a:t>
            </a:r>
          </a:p>
        </p:txBody>
      </p:sp>
    </p:spTree>
    <p:extLst>
      <p:ext uri="{BB962C8B-B14F-4D97-AF65-F5344CB8AC3E}">
        <p14:creationId xmlns:p14="http://schemas.microsoft.com/office/powerpoint/2010/main" val="165707478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15196F-0F30-4385-BE06-59872AD6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1D8FAE-D006-44ED-801D-9089F689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144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SECTION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C3092B-8175-4F06-8BB7-FEF0D1B4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590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725FFF-A702-4CC0-947F-0F2EEF79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需求与业务设计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2F0703-0287-4333-85B8-FFA64DD9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685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0D5D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0D5DD"/>
                </a:solidFill>
                <a:latin typeface="Aptos"/>
                <a:ea typeface="Aptos"/>
                <a:cs typeface="Aptos"/>
              </a:rPr>
              <a:t>用角色、流程和数据所有权说明系统为什么这样拆。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E73479-CC7B-4E95-93B9-F0EADB35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31445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440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EF753B-D413-473B-B01E-EE7532BC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00250"/>
            <a:ext cx="15049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700" b="1">
                <a:solidFill>
                  <a:srgbClr val="FF1268"/>
                </a:solidFill>
                <a:latin typeface="Aptos"/>
                <a:ea typeface="Aptos"/>
                <a:cs typeface="Aptos"/>
              </a:defRPr>
            </a:pPr>
            <a:r>
              <a:rPr sz="5700" b="1">
                <a:solidFill>
                  <a:srgbClr val="FF126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0958B5-6068-47A8-957C-05D22959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0D5D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0D5DD"/>
                </a:solidFill>
                <a:latin typeface="Aptos"/>
                <a:ea typeface="Aptos"/>
                <a:cs typeface="Aptos"/>
              </a:rPr>
              <a:t>Omni 万象抢票平台 | 答辩演示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DC5B0A-0FF9-4E0F-9240-C9B0A0AD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0D5D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0D5D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2626123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50CE10-C3A9-47BA-9DE6-2D1EC0B3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B35FB7-7122-4E5A-A780-789D2181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471FA0-FEB1-4DA6-9087-34380F80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12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1268"/>
                </a:solidFill>
                <a:latin typeface="Aptos"/>
                <a:ea typeface="Aptos"/>
                <a:cs typeface="Aptos"/>
              </a:rPr>
              <a:t>ROLE MATRIX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83B8A0-BD41-4A55-B594-CC2F0A49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1000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三类角色覆盖平台从供给到消费的主要需求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B9AAAE-6C6C-4C17-92BB-F6FD7163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Omni 万象抢票平台 | 答辩演示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46FA79-2359-4AEB-A7E5-B168D1B3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59313C-AA63-407B-89AB-F3FEAE2F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2952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CC086C-3D11-4F40-8461-18865DDB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F3976C-685D-4A3E-9022-43604319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21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普通用户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95B9BA-7C86-45B8-8650-6331826F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47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E2343B-FD6B-42A7-AAB6-FC461676A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717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注册登录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6B6570-39C6-4952-B39A-5C45E78A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05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F54A99-2E7D-48A0-8428-308312A7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289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浏览/搜索活动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49EEBC-4063-42C6-AA04-699F5D58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62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A0F358-B61A-48FD-8B43-04D6021E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861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选择票档/座位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EAE13C-8B25-4A5F-9A9F-B6E4FCF55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19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7D1ECF-FD5E-4770-BDAD-A9909520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433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下单支付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90C381-2D10-4C84-A9E8-1557EE27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0A6608-0278-4AA3-BE99-42AC5CEB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005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订单查看/退款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142BBA-4848-43AB-B984-D148950D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09750"/>
            <a:ext cx="2952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C9706A-B869-4600-BC1E-2CF089D2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09750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D7C072-54BD-4901-BF7E-B5D71E74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9621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主办方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6D9428-D533-4384-A74A-2C5EAE44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647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8EA1CB-EE31-4AD1-AEE7-40A8552E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717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活动发布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40965D-4737-4065-B2C7-95608562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105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17789A-B5AE-41A7-B3D6-645A69BA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289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场次配置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8192AC-3096-4F63-9693-AC2484D2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562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8B2D9E-E448-4E07-B560-632496D1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4861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票档定价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043D4C-8C8D-4747-A9A0-A1430D3B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019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C44519-51F9-400D-A93A-F0891EBE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9433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座位图维护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E310F6-6CB5-42CB-9A17-48A93AA2C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476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E1E9EF-03EA-4F98-9758-1E0D5B8D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4005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销售数据查看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228E52-5A73-45DB-8627-F1889378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09750"/>
            <a:ext cx="2952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B3F12F-A879-4451-B57F-1104DEA8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09750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AD7EB1-C834-43F6-B39E-7FA89A2E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621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平台管理员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D59020-A046-4B2F-BE73-8C8EC686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47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87F98B-3870-4983-8026-9CA80FCD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717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用户治理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D70117A-1118-4E2F-A884-A4633425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05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BB5EC5-8F7E-4323-912E-27EF32A7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289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主办方审批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25895C1-F9CB-4CAF-8B4D-851CD923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62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BCA09B-42DE-4C55-96F3-0FED2D9B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861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场馆/艺人审核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B51C424-C00A-4CAA-8A60-BEF7C66A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19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9D43337-374D-491C-ADA1-9D0FB3C6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9433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风险处理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8D9C10C-931D-4440-B6B2-DFF94342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76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CB97893-3DC9-4DF4-9FB9-20B4DAA3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005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运营数据管理</a:t>
            </a:r>
          </a:p>
        </p:txBody>
      </p:sp>
    </p:spTree>
    <p:extLst>
      <p:ext uri="{BB962C8B-B14F-4D97-AF65-F5344CB8AC3E}">
        <p14:creationId xmlns:p14="http://schemas.microsoft.com/office/powerpoint/2010/main" val="203724022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B3DDAA-E908-457B-BD0F-A1B36B6D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B23092-C917-462C-8EDF-B41AB4F3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074070-29A0-4E8B-9581-A7866CD7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12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1268"/>
                </a:solidFill>
                <a:latin typeface="Aptos"/>
                <a:ea typeface="Aptos"/>
                <a:cs typeface="Aptos"/>
              </a:rPr>
              <a:t>PURCHASE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D58C5F-4F2D-4D8B-8A49-C87CAEE0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1000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C 端购票主流程是后续架构验证的核心基准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D7D514-2590-48EA-ABBA-EB592D31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Omni 万象抢票平台 | 答辩演示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181796-023C-494F-9B14-CD58DA07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444837-4D16-4A44-AE8A-CAFCDA74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219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BA72DB-8954-4171-8669-D88E255E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登录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E34193-C0E6-4FFE-ACD0-02EAFFE9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33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FF2598-61FF-412C-B46A-3FC57CF0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819400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338AC7-1755-4179-9472-8CCC4AAA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771775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ED6475-922E-41A7-AA38-A445C14F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381250"/>
            <a:ext cx="1219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126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C82DD1-FA92-40C2-A2F6-21CA6D2B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717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浏览活动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7FC6CF-30B8-4854-AC4F-E515F0B4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33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126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126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03D7B8-1404-4CEE-89DA-37CDD413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19400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E746C5-8BDA-4C10-A060-3CBCDF54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71775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82BDF2-4273-4A46-92E5-ED8AFFC8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381250"/>
            <a:ext cx="1219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E4BDC0-BEE7-4F5B-B24B-9E419E0A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5717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活动详情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51D04E-B787-4521-837F-2B0D23B9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933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0389F5-A5B0-4C07-B835-ED4F2021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19400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AB92C2-3B58-416D-9AE6-3DE8133E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71775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CAF985-9A95-4FF9-8F1B-5367BBA5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381250"/>
            <a:ext cx="1219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78883E-C042-4389-A531-E92606DE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717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选择票档/座位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B01680-40EF-4162-B106-FCC25EF1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933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89BCC9-83FB-43F3-BAEE-B40F4AEC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19400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774994-7483-418A-8957-E04DDA26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71775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580457-F70B-4E3D-8608-51972CA69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81250"/>
            <a:ext cx="1219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927BBB-0613-440E-B61C-5935ECC2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717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创建订单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72EB02-1AD4-4FAB-A72E-FB8CD426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933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9B60EA-B008-47F3-9C1D-25F62F0C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19400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E3BFA1-5359-473D-B3BC-19180831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71775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E20AB4-7B6D-48B6-A8A8-DD1F70E4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81250"/>
            <a:ext cx="1219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126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562014-CDCE-4BBE-9244-60B106C5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717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支付同步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6FDA6F-79EC-4584-B9AB-03D225A3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33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126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1268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5741B7-5130-4EDA-ADA8-01B667DA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19400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6CF63B-9A58-430B-B88A-F0553FF8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771775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FB70B0A-BBA4-42FC-AA67-46CBC0EC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381250"/>
            <a:ext cx="1219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AA9104-1A10-404F-9098-D0F73AEC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5717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查看订单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DC9444B-9F6B-4B9F-9D7E-57668B25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933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F035BF-83FB-4A0E-B330-ADA966C1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76750"/>
            <a:ext cx="895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8D5A4E8-1EB2-4741-B763-7CADC6F1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648200"/>
            <a:ext cx="830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这条链路会贯穿 user、ticket、order、payment、notification 五个服务。</a:t>
            </a:r>
          </a:p>
        </p:txBody>
      </p:sp>
    </p:spTree>
    <p:extLst>
      <p:ext uri="{BB962C8B-B14F-4D97-AF65-F5344CB8AC3E}">
        <p14:creationId xmlns:p14="http://schemas.microsoft.com/office/powerpoint/2010/main" val="172863607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6D15A5-37C5-4D25-BAF9-72723DBA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D9E68A-0DCD-47EA-97D9-0C03E750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144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SECTION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C4B537-CA55-496C-A396-DEE2BB32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590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E4BF1C-2347-4671-AD88-2A2BB742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系统架构与技术实现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942233-C9E3-4C67-AB2F-124C294E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685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0D5D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0D5DD"/>
                </a:solidFill>
                <a:latin typeface="Aptos"/>
                <a:ea typeface="Aptos"/>
                <a:cs typeface="Aptos"/>
              </a:rPr>
              <a:t>重点讲五个微服务、八个支撑组件和服务边界。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74D601-5CAD-4FA0-A167-552391D8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31445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440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4EB1FC-B9C4-4A63-A519-85157AF6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00250"/>
            <a:ext cx="15049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700" b="1">
                <a:solidFill>
                  <a:srgbClr val="FF1268"/>
                </a:solidFill>
                <a:latin typeface="Aptos"/>
                <a:ea typeface="Aptos"/>
                <a:cs typeface="Aptos"/>
              </a:defRPr>
            </a:pPr>
            <a:r>
              <a:rPr sz="5700" b="1">
                <a:solidFill>
                  <a:srgbClr val="FF126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888A7C-B153-4B67-8E8E-7305391F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0D5D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0D5DD"/>
                </a:solidFill>
                <a:latin typeface="Aptos"/>
                <a:ea typeface="Aptos"/>
                <a:cs typeface="Aptos"/>
              </a:rPr>
              <a:t>Omni 万象抢票平台 | 答辩演示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347616-DCF2-4D80-9010-16608E95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0D5D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0D5D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6802779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A5635D-72B3-45E6-B846-69CA7978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22DED5-279C-4EF4-8AF8-E7F910DF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CF14E5-2B2A-4D13-8D3A-FE4DAF03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12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1268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052590-D9BD-46F8-8B25-BB03354E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1000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前端经 Gateway 进入五个业务服务，服务间靠 internal API 协作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096FAB-889F-4C68-8917-DA503F4B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Omni 万象抢票平台 | 答辩演示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B122E8-B2D3-499F-A15D-8E7F3466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BAF7F7-9330-42F0-84F3-EE5B6106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410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C3A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1C44F4-D665-4940-A821-0E8B7D69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4100"/>
            <a:ext cx="1619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D23F18-9216-4979-A61A-54245BD0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Next.js 前端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90A67F-C74D-440A-922D-C87ECE98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1390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:3000</a:t>
            </a:r>
          </a:p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 端 + B 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2C82C5-622A-4EA6-BE5A-71933E13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32410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182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7A7FD3-F9E3-4354-B465-2FE615719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324100"/>
            <a:ext cx="1619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86A1DD-A5B6-4810-A34D-CC73E256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9555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java-gateway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EB3DB9-2811-49E8-872E-AAAE4C1B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81300"/>
            <a:ext cx="1390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:8088</a:t>
            </a:r>
          </a:p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统一 API 入口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F4613A-2184-471C-A371-18FD1907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051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905AB3-867B-4F5C-9F59-CF36DE83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657475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898E64-3E9F-4379-B277-A28F521B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28800"/>
            <a:ext cx="1619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591A58-53F4-4315-8F41-11F82ED25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28800"/>
            <a:ext cx="1619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79EB0A-2AA8-414F-8B68-061DBFCA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00025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java-user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427909-163C-4DD6-9939-FEE810BB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286000"/>
            <a:ext cx="1390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业务服务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61F563-7C9C-4A33-A283-C3187EEB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28800"/>
            <a:ext cx="1619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126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709B2C-360F-4EBA-8DFF-E2443104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28800"/>
            <a:ext cx="1619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3C3757-C110-4ABF-B760-4BCA594E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00025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java-ticket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E4E0AC-66DE-4F23-8AAD-9086D769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86000"/>
            <a:ext cx="1390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业务服务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812A92-485C-4367-A919-BF746D2B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71850"/>
            <a:ext cx="1619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9E65F0-6DDF-413D-A31E-80E716EA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71850"/>
            <a:ext cx="1619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0563A6-DC26-4A01-B59E-7BBDA7DA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54330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java-order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798917-2BF2-460E-AB5A-C608DB02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829050"/>
            <a:ext cx="1390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业务服务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4934AE-444A-4C1F-81E7-C342CC62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371850"/>
            <a:ext cx="1619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5BD9B8-161E-41CC-9597-BD4568C8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371850"/>
            <a:ext cx="1619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4A1CD9-6E58-4ED8-9EA7-7F458E50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54330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java-payment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966233-726F-4909-8A8D-C4AAA3A1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829050"/>
            <a:ext cx="1390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业务服务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5CA578-807A-48C1-816E-90EE5635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371850"/>
            <a:ext cx="1619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D4B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2CDEFD-5817-4466-8476-6D50219F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371850"/>
            <a:ext cx="1619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CFCEE3-D3B4-42E6-9E9A-AC5DBAEE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54330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java-notification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CBFB86-3DC6-46A8-B4C2-BCF1F1D49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829050"/>
            <a:ext cx="1390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业务服务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140895-A385-4D6D-B47A-929126A2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0510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5D14EBC-0DBB-49FC-88CA-81F054AD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57475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C6C3636-4226-4078-BDE5-46376853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05100"/>
            <a:ext cx="2933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17A95B-981C-40FA-9AC1-8F2C1E1A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57475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EE5EED8-2141-4CC7-A7F3-7721DEB1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24150"/>
            <a:ext cx="38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71948A5-69CF-4FE0-A8F6-963BE549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676650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415E7DD-1E81-41A9-8FB4-8EA2C20D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05100"/>
            <a:ext cx="2933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55DAEFD-EDD6-4759-8EA7-C765AE56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57475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3708281-9585-472D-A5EE-01779DC4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05100"/>
            <a:ext cx="5048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DFD2F84-3745-437E-9DF2-8FEA1C45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657475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54AB7CA-4A01-48D8-B3BF-D9C14A14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578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E5D7CD5-B048-492A-B1FC-F8FF9F2E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72100"/>
            <a:ext cx="152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8E2DABD-CC9A-49C9-B094-81589838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53050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omni_user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4F6473C-5F4F-4481-B600-7B2AFA2A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81650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840C8A0-3288-4D96-96D4-7A08D14C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2578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  <a:ln xmlns:a="http://schemas.openxmlformats.org/drawingml/2006/main" w="14288">
            <a:solidFill>
              <a:srgbClr val="FF126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5A6B1D0-086D-4BED-9393-10EE727B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372100"/>
            <a:ext cx="152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F92AB8A-97A1-4816-A310-426901D2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353050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omni_ticket_split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AA2850B-B8B2-44EA-9ECC-79319689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581650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ticket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27FC666-4386-43E1-BE3F-21ACF7FF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578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6C324EC-BE4D-44D4-8614-39CD934F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372100"/>
            <a:ext cx="152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1110694-0B07-4C54-AEA5-2154401C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353050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omni_order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7B19F33-A6DE-4F4E-B278-D565CF79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581650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order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E6547C6-F190-4B5D-8B9B-E6DE88B7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2578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  <a:ln xmlns:a="http://schemas.openxmlformats.org/drawingml/2006/main" w="14288">
            <a:solidFill>
              <a:srgbClr val="16A34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3DFAC1B-7A63-4F0F-AE1E-9F737979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372100"/>
            <a:ext cx="152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8C3D12C-7420-418E-8694-7B08DEA8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353050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omni_payment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4646B20-4CD3-4AAF-93B9-C8B9FCA5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581650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payment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19DF551-11E2-4022-93E3-63B61959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2578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  <a:ln xmlns:a="http://schemas.openxmlformats.org/drawingml/2006/main" w="14288">
            <a:solidFill>
              <a:srgbClr val="2DD4B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81DD23B-B997-4ECB-90EE-96E12405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372100"/>
            <a:ext cx="152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F89F8E4-0D11-4E51-BF5E-D87D39B7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353050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omni_notification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0E296B1-E777-45F6-B0AB-A61DE22D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581650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notification</a:t>
            </a:r>
          </a:p>
        </p:txBody>
      </p:sp>
    </p:spTree>
    <p:extLst>
      <p:ext uri="{BB962C8B-B14F-4D97-AF65-F5344CB8AC3E}">
        <p14:creationId xmlns:p14="http://schemas.microsoft.com/office/powerpoint/2010/main" val="45603029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A97BEB-D3A3-40EB-9664-C3CE08B0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E9D5ED-F491-42ED-B71F-398304C5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8040A9-CF08-487F-9B80-A09E56DA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12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1268"/>
                </a:solidFill>
                <a:latin typeface="Aptos"/>
                <a:ea typeface="Aptos"/>
                <a:cs typeface="Aptos"/>
              </a:rPr>
              <a:t>SERVICE 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DEFFE3-8DF0-46B8-AB0A-C409AEA0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1000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五个微服务分别拥有清晰的业务边界和数据库所有权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576112-0050-4E3A-A148-104DB0C1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Omni 万象抢票平台 | 答辩演示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96FCCB-BF18-4A60-B301-37DEB2FD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6FEFCD-3632-419B-91F4-125C308E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587443-981C-4485-A1C3-0442A0DA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65A90E-BE17-418C-8A76-CDDE994F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81200"/>
            <a:ext cx="2628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java-user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F9DD91-0617-41B3-8266-06FE80D8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2628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:8081</a:t>
            </a:r>
          </a:p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用户、角色、JWT、主办方申请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DF6937-E0EF-4E20-BF33-DC320EBC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1465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830500-80F5-4062-ADEB-6CD996D0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152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D1AFDB-FA8D-41F9-9EDC-4741D87D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09900"/>
            <a:ext cx="2400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omni_user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C4B91E-AD04-41D7-A34A-4E2C7B55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38500"/>
            <a:ext cx="2400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java-user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3A7A2C-89B1-4C52-82AB-F1A0B97F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09750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126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266677-6094-4B47-94A3-9D9F6C430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097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073039-D802-4EE0-8D11-D8A1D9CF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81200"/>
            <a:ext cx="2628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java-ticket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FC694B-0AD4-4004-B993-3795DC96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66950"/>
            <a:ext cx="2628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:8082</a:t>
            </a:r>
          </a:p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活动、场次、票档、座位图、库存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F0D47D-4F7E-4273-8376-2199885E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1465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  <a:ln xmlns:a="http://schemas.openxmlformats.org/drawingml/2006/main" w="14288">
            <a:solidFill>
              <a:srgbClr val="FF126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F26F27-EFAC-496A-A65F-18796697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28950"/>
            <a:ext cx="152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4A207A-0E30-481F-ACD9-B2189074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09900"/>
            <a:ext cx="2400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omni_ticket_split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6D1BE3-E988-4BB1-BD0F-8E614E55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38500"/>
            <a:ext cx="2400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java-ticket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05EF8D-B0A1-4F8B-B9F6-4BC43E5C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09750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2EFBBD-F391-4453-B75B-C29EFEB5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097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C425F8-9FEB-49C0-B379-BF587FE0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2628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java-order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84EFD4-E029-47C1-B155-1474AF12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66950"/>
            <a:ext cx="2628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:8083</a:t>
            </a:r>
          </a:p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订单、订单快照、座位锁定结果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6312DE-CC4A-4615-8E34-1323526A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1465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72DB31-DA1B-434D-BC7E-2B14C488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28950"/>
            <a:ext cx="152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693F58-C9E5-4C3D-99B8-E42C45BB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09900"/>
            <a:ext cx="2400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omni_order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080F21-78E5-4279-A97E-944D0D97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38500"/>
            <a:ext cx="2400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java-order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9D39B2-60C4-4AF5-8A37-F03038BC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5B2EA4-5B10-4E24-A314-44B9FB0F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9354B0-DCA7-4BE9-A1B8-F0B5F3B2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2628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java-payment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0E4E68A-1D7D-4EC2-97D9-05E82E26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2628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:8084</a:t>
            </a:r>
          </a:p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支付宝沙盒、支付同步、退款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C7EB10-7071-4228-9B6D-8307B33D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  <a:ln xmlns:a="http://schemas.openxmlformats.org/drawingml/2006/main" w="14288">
            <a:solidFill>
              <a:srgbClr val="16A3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900F4A-E1E1-4AA6-AAFD-076DF4C2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43450"/>
            <a:ext cx="152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CE3CF5-8F6B-4FB7-AF4A-980E7BBC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24400"/>
            <a:ext cx="2400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omni_payment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047DE59-DF82-4ADA-BB1A-AB65B26B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2400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java-payment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05A05E5-1B67-4C7B-AABD-BBC49C28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24250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D4B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FD7EA02-E8EB-4623-97BB-FD0CFAFE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242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14A574B-3619-4D13-86B6-76D5F336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95700"/>
            <a:ext cx="2628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java-notification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977AE65-618B-4D25-83C7-D8EA4689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81450"/>
            <a:ext cx="2628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:8085</a:t>
            </a:r>
          </a:p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站内信、短信、邮件通知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8149678-2679-4C21-9DC4-36089223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62915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  <a:ln xmlns:a="http://schemas.openxmlformats.org/drawingml/2006/main" w="14288">
            <a:solidFill>
              <a:srgbClr val="2DD4B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AC4B6D-C0AD-494D-8E06-082757C4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743450"/>
            <a:ext cx="152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5F451AC-175B-4E8A-9E81-F7BE7495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24400"/>
            <a:ext cx="2400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omni_notification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F4274B2-3142-45D4-A85C-9EE99D20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53000"/>
            <a:ext cx="2400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java-notification</a:t>
            </a:r>
          </a:p>
        </p:txBody>
      </p:sp>
    </p:spTree>
    <p:extLst>
      <p:ext uri="{BB962C8B-B14F-4D97-AF65-F5344CB8AC3E}">
        <p14:creationId xmlns:p14="http://schemas.microsoft.com/office/powerpoint/2010/main" val="185113632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A92E7B-91C0-4866-9745-72504AB3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C04BF8-CD08-477E-9C59-891C3515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63ABE8-FB91-41ED-AD79-5D926CA4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12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1268"/>
                </a:solidFill>
                <a:latin typeface="Aptos"/>
                <a:ea typeface="Aptos"/>
                <a:cs typeface="Aptos"/>
              </a:rPr>
              <a:t>INFRASTRUCTURE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0F585F-70EC-4BBE-B263-E73B561F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1000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八个中间件/基础设施组件支撑本地联调和扩展能力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71C77D-1FE8-492D-AF09-7314FFC6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Omni 万象抢票平台 | 答辩演示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01853A-63F4-40BE-B9BF-3473C4654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6EBF6A-8A1C-4A64-A139-D5162B2A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4BA80B-69AF-4555-94D4-7A750CC4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2190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88D410-8D6F-4D3C-A4E2-3BD97182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1F9E17-DB18-41B3-ACE8-C87EDA30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4785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C2532F-4C23-4B12-8AB0-CA61BA0D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47850"/>
            <a:ext cx="2190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32613D-A4AA-43D4-ADF9-1BC53B69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Redis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B98D4F-6827-4606-BC3C-CBE34E62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4785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0DD625-FD48-40D4-9F5A-45AE66B8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47850"/>
            <a:ext cx="2190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986D0F-7FE9-4BC3-947F-41D220B7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907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Nacos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B2B26E-E4C4-4FC4-A664-A278CA5B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4785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3B68BB-6FDD-43AC-92AF-E73EF36E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47850"/>
            <a:ext cx="2190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1021B2-E1D3-4042-8020-D0434CF84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907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Seata Config Init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920CC6-4659-4426-AC54-F7930666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5F6630-F301-4E76-9041-0812F730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2190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FB066D-5309-4471-9D63-7A3D8793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Seata Server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DA8888-F8F7-439B-BC29-93590EEC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37185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0DF46A-A9E3-4CED-8402-990FE189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371850"/>
            <a:ext cx="2190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D57329-363B-47E5-9442-1F505260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7147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RabbitMQ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7E7804-A754-4793-81A7-11B7562D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7185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25350F-3115-4259-B933-FF58DAD5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71850"/>
            <a:ext cx="2190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3CE838-5B1B-42D7-8085-2DC28B3D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147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Docker Compose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911CAA-503E-4CD1-9FE2-39617543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37185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A2EB7A-9D46-4ED9-A7C5-0D07830C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371850"/>
            <a:ext cx="2190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F437B1-0B77-48F8-ADFF-49C480D6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147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Node Runtime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03598A-2261-450E-8C49-B9B7DA98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91100"/>
            <a:ext cx="933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DC98F7-7620-4C26-9DF6-751F8628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91100"/>
            <a:ext cx="57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A4736A-FCC7-40EF-AC9A-0EF01A20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901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讲法建议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C63B16-97E7-4698-99AC-5EB2A3B3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48300"/>
            <a:ext cx="9010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按职责讲：数据持久化、缓存与并发、服务发现、事务协调、异步消息、容器编排和前端/抢票服务运行支撑。</a:t>
            </a:r>
          </a:p>
        </p:txBody>
      </p:sp>
    </p:spTree>
    <p:extLst>
      <p:ext uri="{BB962C8B-B14F-4D97-AF65-F5344CB8AC3E}">
        <p14:creationId xmlns:p14="http://schemas.microsoft.com/office/powerpoint/2010/main" val="185662418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831761-A8E9-4965-A76D-2CC9CAF4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62AEE9-16CB-4FE1-8111-C0FDA56A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2F0868-74AB-41FF-9E7B-FF66C28B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12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1268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171919-5B69-4318-978A-56FB7A7D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1000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服务治理靠注册发现、网关路由和 internal API 安全约束落地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FC204F-ADDE-4BED-A833-A2C09E61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Omni 万象抢票平台 | 答辩演示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F85B10-A189-4123-81CA-05E5E75A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B008CA-F8AC-45B3-83FE-649F710F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476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2902EF-843C-4530-8CF8-CD1AE682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4BA218-4108-4224-86DC-33FB71B8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0500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Nacos 注册发现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3BB8C5-C401-4265-BE18-FBED6DAE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4438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服务启动后注册到 Nacos，Gateway 可按服务名路由到下游。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E2676E-BE58-4B68-8177-5AA761E9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52600"/>
            <a:ext cx="476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8F83F9-D424-413C-BA87-D83EA981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526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360D1C-D68E-4AD4-BAA4-DDFA0A9B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0500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Gateway 统一入口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049A79-9BA0-4423-A823-2B25C3E0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09800"/>
            <a:ext cx="4438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外部请求统一走 :8088，前端不直接访问业务服务。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040E55-900D-47BA-97FA-E036B49E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476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94D6AA-6F43-449E-88EB-6ACD0620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82D1CE-D6E7-4C0E-A27A-951B90D9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OpenFeign / internal 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22DC0A-2223-4AD7-97A3-CBE44B534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4438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order/payment 通过内部接口获取用户、票务、订单信息。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E5B5F4-1433-48CD-B306-1BF344C6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19450"/>
            <a:ext cx="476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00FEC1-A309-4BFB-91D5-B749CE04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194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A2F12A-1217-4E15-B290-CE82E29C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7185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X-Internal-Token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2C2BB6-0C31-466E-BE8C-195F0E83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76650"/>
            <a:ext cx="4438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新增 internal API 必须校验 token，防止外部绕过网关调用。</a:t>
            </a:r>
          </a:p>
        </p:txBody>
      </p:sp>
    </p:spTree>
    <p:extLst>
      <p:ext uri="{BB962C8B-B14F-4D97-AF65-F5344CB8AC3E}">
        <p14:creationId xmlns:p14="http://schemas.microsoft.com/office/powerpoint/2010/main" val="3967616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B34961-387A-4D3A-A46C-3704C463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0D38E6-ACD5-41D1-A4DA-AA65079B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5342F5-F4CD-4570-BC1A-0D08F77F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12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1268"/>
                </a:solidFill>
                <a:latin typeface="Aptos"/>
                <a:ea typeface="Aptos"/>
                <a:cs typeface="Aptos"/>
              </a:rPr>
              <a:t>CONSISTENCY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0D8B49-ECA6-4B79-943F-3CC98116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1000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下单链路先校验和锁定，再写订单快照，避免跨服务直接查表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5F7825-20BC-488D-8572-2355F9A5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Omni 万象抢票平台 | 答辩演示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764007-19A1-4F5C-B564-4860FB31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BA8E94-4346-4A5C-8788-73C4B410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219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4F82BB-69E8-486F-ABBA-C0B50027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校验用户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350D38-7A5D-4651-9C34-487952EE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33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13E18A-885F-45FF-B04C-D13B5DA0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819400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9DA0D2-ED9A-44AD-B6D3-02E5753C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771775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9EBB4B-D15A-4757-8880-6E2DADC6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381250"/>
            <a:ext cx="1219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126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5BB03E-EAAF-4217-A603-E30C82E2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717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报价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760168-A0A0-4DEE-B829-3A61BC70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33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126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126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E471AC-4C96-4C02-87AD-D983D690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19400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031990-5546-4EB2-AF47-CFE881B9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71775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AAC02B-00E5-4AA8-8074-1C73FBF6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381250"/>
            <a:ext cx="1219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F8A5AA-63BE-41BE-904A-DDCD3390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5717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锁库存/锁座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B62666-B01F-47CB-B754-B900C635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933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C73543-9CC9-49D8-96F4-01435B41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19400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B12C97-71E4-4C52-AA7B-1325D2A3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71775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DC4A35-B421-45C3-A349-A5EBAB85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381250"/>
            <a:ext cx="1219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79B81D-6DDF-4E7D-915D-AFE97994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717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创建订单快照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5E6CF5-8F0F-45D3-8ECB-22DEBAF1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933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5FFB87-988B-4BE9-B789-5E212572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19400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726B40-F6CB-417A-9C1A-1B7D4811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71775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A8E31F-6691-42F8-8738-07147B40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81250"/>
            <a:ext cx="1219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3D011A-BF2D-4A43-A3FA-2AAAA249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717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支付同步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22ED61-AB27-4220-BD4E-AB4637B6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933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4DD50F-CCE7-4C2B-9E9E-55E2627F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19400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64392C-BBAE-48D6-82FA-D03DAD92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71775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441E10-DDA0-46C8-BCD2-C06CED5A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81250"/>
            <a:ext cx="1219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126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3B62CA-EDFD-4D82-998F-F6137E61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717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确认售出/释放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5CBD81-C9AD-4424-AB7C-C452A986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33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126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1268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8493336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D3DDC5-1F3E-4907-8B52-B5236074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06FF81-02BB-4F7F-AE13-334D1E5B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3099E6-BAB3-44DB-858A-26464A52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12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1268"/>
                </a:solidFill>
                <a:latin typeface="Aptos"/>
                <a:ea typeface="Aptos"/>
                <a:cs typeface="Aptos"/>
              </a:rPr>
              <a:t>DATA OWNERSHIP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702BD6-D15B-467F-89B6-5863AD25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1000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prod-split 五库拆分让服务自治边界更清楚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D377A2-C06B-4BB5-B844-DC5D1C19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Omni 万象抢票平台 | 答辩演示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9437AD-22DB-410B-B854-701D7096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E8141F-C29A-46A0-915C-DD38F2A1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1752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F4F5FB-C9EE-40F5-BC97-89D48644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152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44B066-4B40-4755-80D5-3DE400C6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71750"/>
            <a:ext cx="129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omni_user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29EB52-B8CF-49E8-AD51-D168FE46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003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java-user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881F4D-A4F4-4322-9268-4DD31F6E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76500"/>
            <a:ext cx="1752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  <a:ln xmlns:a="http://schemas.openxmlformats.org/drawingml/2006/main" w="14288">
            <a:solidFill>
              <a:srgbClr val="FF12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F7B800-0A41-4A15-8683-BAD90730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590800"/>
            <a:ext cx="152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85AF66-D176-4BFB-9719-9444942E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71750"/>
            <a:ext cx="129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omni_ticket_split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A46B8F-A08C-468B-A8CB-6E540F68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003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java-ticket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A1ABDF-EC2E-4228-83F9-05F49B9D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476500"/>
            <a:ext cx="1752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33BBE0-C3E2-4950-A61D-4A216F92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590800"/>
            <a:ext cx="152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693852-A95B-4C7E-B14B-35B10146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71750"/>
            <a:ext cx="129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omni_order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4D9F87-8D9F-4A3E-BD09-8F5947DE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003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java-order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ACC71C-243F-48A3-9B62-CB110273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76500"/>
            <a:ext cx="1752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  <a:ln xmlns:a="http://schemas.openxmlformats.org/drawingml/2006/main" w="14288">
            <a:solidFill>
              <a:srgbClr val="16A3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F56C70-3FE7-40C0-80AB-11C8BE2B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590800"/>
            <a:ext cx="152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CB0E50-E3F2-43DA-BFEF-416B4805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71750"/>
            <a:ext cx="129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omni_payment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C4C171-857B-43DE-97F8-108940E7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003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java-payment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C7A3DC-A105-4066-A9C9-BF65C9E9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76500"/>
            <a:ext cx="1752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  <a:ln xmlns:a="http://schemas.openxmlformats.org/drawingml/2006/main" w="14288">
            <a:solidFill>
              <a:srgbClr val="2DD4B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E6AE40-F4B6-43F4-B136-F1AEABB8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590800"/>
            <a:ext cx="152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826A7D-27F4-442F-93AD-39EDAAE5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71750"/>
            <a:ext cx="129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omni_notification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636763-58D1-45C7-80F7-32FD1B4E6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003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java-notification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A67572-F2E7-4ACA-B5D2-6819968F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95750"/>
            <a:ext cx="971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B37A29-4692-40FD-A1F7-26B5E27E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305300"/>
            <a:ext cx="8915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omni_ticket 仅作为历史共享库/迁移源，不再作为当前业务运行库</a:t>
            </a:r>
          </a:p>
        </p:txBody>
      </p:sp>
    </p:spTree>
    <p:extLst>
      <p:ext uri="{BB962C8B-B14F-4D97-AF65-F5344CB8AC3E}">
        <p14:creationId xmlns:p14="http://schemas.microsoft.com/office/powerpoint/2010/main" val="70166463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7355C4-946C-4DB8-A0A1-F140BD6D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69EB90-379B-4B03-916C-1CDB4142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97A5F6-6ACC-4111-AE7E-D4FA3FC7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12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1268"/>
                </a:solidFill>
                <a:latin typeface="Aptos"/>
                <a:ea typeface="Aptos"/>
                <a:cs typeface="Aptos"/>
              </a:rPr>
              <a:t>BOUNDARY RULES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8DB228-9C90-43A7-84D6-0ACA62E0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1000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服务边界是本项目答辩最应该强调的工程纪律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83910E-1291-4065-8C1D-B89ABF46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Omni 万象抢票平台 | 答辩演示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F1D471-1CCB-4EC2-9BF4-B432AA50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45BBDA-C36F-4011-BFEC-DE8CAEC2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476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3B8B35-B470-495A-83EB-AB84A2B6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318689-38D7-49F8-BB9C-DD556BDC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0500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规则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9B910D-86B8-4D06-9D6F-99D1ACFC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4438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禁止新增跨服务 Mapper、Entity、XML mapper 或 SQL join。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51EB65-2737-4EB7-A812-A16D05EB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52600"/>
            <a:ext cx="476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DFCB9B-5446-4EBD-9375-62898397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526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069E77-1E4F-43AE-B636-AE89BB2A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0500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规则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E46C6F-DC97-40F3-8304-637A960B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09800"/>
            <a:ext cx="4438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java-order 不直接访问 user/ticket 表，必须调用 user/ticket internal API。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236F0F-9817-40D1-94E2-B1E8F587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476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368522-A3BE-4F66-B2C4-2C8B8AEC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13C1E7-0052-4B21-96B2-9B3E9EF5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规则 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12B1F4-54A5-4E45-A0ED-CF834A43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4438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java-payment 不直接访问 order/user/ticket 表，通过 order/user/ticket internal API 协作。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269608-2379-4207-BC61-70B4A9E7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19450"/>
            <a:ext cx="476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65ACD6-9807-4C82-B0D7-99270234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194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983E1D-3309-49B0-85BC-13368B58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7185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规则 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4459BB-00B9-4886-8949-5265E16F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76650"/>
            <a:ext cx="4438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java-notification 只保存 copied id，不拥有 user/order 主数据。</a:t>
            </a:r>
          </a:p>
        </p:txBody>
      </p:sp>
    </p:spTree>
    <p:extLst>
      <p:ext uri="{BB962C8B-B14F-4D97-AF65-F5344CB8AC3E}">
        <p14:creationId xmlns:p14="http://schemas.microsoft.com/office/powerpoint/2010/main" val="85008601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8BC5F7-C2E3-4C74-B4F8-2577B8BC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1DBC56-21B8-4B7D-A81D-FD8344E1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D5860F-379A-4808-A0AE-9C03AB9D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12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1268"/>
                </a:solidFill>
                <a:latin typeface="Aptos"/>
                <a:ea typeface="Aptos"/>
                <a:cs typeface="Aptos"/>
              </a:rPr>
              <a:t>CACHE &amp; SEARCH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54D605-3503-4372-A3FE-701729AFB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1000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缓存和搜索能力以项目实际状态表述，避免把预留能力讲成已落地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458956-947A-45F5-B281-7CA9FA0D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Omni 万象抢票平台 | 答辩演示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32A216-19C5-48CD-96DC-E6A659B4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15E685-005A-4A0F-985C-F3A40271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476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12A729-0B42-4F06-AC12-D236C162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74A043-05B7-45E9-AF0C-4B210B8D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0500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Redis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72C890-2531-4D45-BD15-42DE5F70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4438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用于抢票核心预留、缓存和高并发扩展支撑，当前由 Docker infra 提供。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F9EA64-2263-40D9-9891-60F72353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52600"/>
            <a:ext cx="476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3DDDE1-F467-4AB6-ACAB-856BF2E0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526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FF781D-DF5E-4B0C-B0AC-B27A50A5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0500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Elasticsearch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1E7A0D-BE75-416B-9CF6-B7765C7C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09800"/>
            <a:ext cx="4438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源 PPT 曾写 ES 搜索增强；当前项目运行手册未将 ES 列为默认联调组件，答辩中建议作为后续优化方向。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344266-4347-4159-A3F7-541163F8F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476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0C25E3-DCAE-43E5-BD16-A010FF8B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852534-C520-42B6-87D3-46CBB6B5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E2E5DF-0B14-423A-8392-5BEFC4BA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4438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当前核心检索和业务数据以五个 PostgreSQL database 为主。</a:t>
            </a:r>
          </a:p>
        </p:txBody>
      </p:sp>
    </p:spTree>
    <p:extLst>
      <p:ext uri="{BB962C8B-B14F-4D97-AF65-F5344CB8AC3E}">
        <p14:creationId xmlns:p14="http://schemas.microsoft.com/office/powerpoint/2010/main" val="742789486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910479-65DD-4021-A1CA-3BC1F45C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4B8C9A-88E5-40EB-A2AC-E5B5640CC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144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SECTION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6DB7AD-E5FB-4B2B-BB2A-5E17F600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590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886A2D-025E-4144-961B-4B05B217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前端展示与系统演示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DED9A8-0A9E-4FBA-8D39-064143F8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685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0D5D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0D5DD"/>
                </a:solidFill>
                <a:latin typeface="Aptos"/>
                <a:ea typeface="Aptos"/>
                <a:cs typeface="Aptos"/>
              </a:rPr>
              <a:t>把页面讲成业务路径，而不是只展示截图。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3FDCAC-1EC7-437F-B3BD-93CF60AE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31445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440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75C320-CB2D-4E71-9161-D56789DB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00250"/>
            <a:ext cx="15049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700" b="1">
                <a:solidFill>
                  <a:srgbClr val="FF1268"/>
                </a:solidFill>
                <a:latin typeface="Aptos"/>
                <a:ea typeface="Aptos"/>
                <a:cs typeface="Aptos"/>
              </a:defRPr>
            </a:pPr>
            <a:r>
              <a:rPr sz="5700" b="1">
                <a:solidFill>
                  <a:srgbClr val="FF126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C47D92-9FA4-4723-8C84-E6077902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0D5D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0D5DD"/>
                </a:solidFill>
                <a:latin typeface="Aptos"/>
                <a:ea typeface="Aptos"/>
                <a:cs typeface="Aptos"/>
              </a:rPr>
              <a:t>Omni 万象抢票平台 | 答辩演示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1D86D8-482B-4749-9E26-DB21C6C4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0D5D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0D5DD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208103085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AC8B41-5B10-48B0-9797-49100100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D835CC-2E00-4E8D-A871-EECFB669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82F051-B621-4C6F-98A1-06CE5CEC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12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1268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9D4FE1-DB2E-4ADF-BFCF-D0490C59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1000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Next.js 前端分为 C 端购票体验和 B 端 Console 管理台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68BE05-F41B-49D6-9BAD-A95E7A85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Omni 万象抢票平台 | 答辩演示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724B6E-2A6E-4773-8BE1-0BC88727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DED4D5-1231-4C08-A752-C45F3944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3048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4AC952-D2F4-4277-A28A-53F2DF6B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571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8FEED8-9A99-4BAE-A1A8-0B4605ED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C 端页面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F4CB89-1C55-4BF2-A08B-1BD23166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57450"/>
            <a:ext cx="27241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• /</a:t>
            </a:r>
          </a:p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• /login</a:t>
            </a:r>
          </a:p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• /activity/[id]</a:t>
            </a:r>
          </a:p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• /orders</a:t>
            </a:r>
          </a:p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• /payment/result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9CD267-9556-43A6-B33C-6A69C658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00250"/>
            <a:ext cx="3048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7879AE-3775-4BDF-BFF5-EBF83F8B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00250"/>
            <a:ext cx="571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1DC992-3B71-4702-8561-2F008390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5265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B 端 Console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A0D3BC-D0ED-4102-9CB6-095FDEDD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57450"/>
            <a:ext cx="27241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• /console</a:t>
            </a:r>
          </a:p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• /console/activities</a:t>
            </a:r>
          </a:p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• /console/sessions</a:t>
            </a:r>
          </a:p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• /console/venue</a:t>
            </a:r>
          </a:p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• /console/refunds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B5ECFB-5387-447C-9200-31DE4392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3048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6DFED2-3377-41CC-8521-2598F9F1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571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34A128-E4D4-4722-8436-F4F00598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5265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公共技术层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38934D-A902-4679-B31F-631D8B11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57450"/>
            <a:ext cx="27241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• src/lib/api.ts request&lt;T&gt;()</a:t>
            </a:r>
          </a:p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• src/lib/auth.ts</a:t>
            </a:r>
          </a:p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• localStorage token/user</a:t>
            </a:r>
          </a:p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• 800ms API timeout</a:t>
            </a:r>
          </a:p>
        </p:txBody>
      </p:sp>
    </p:spTree>
    <p:extLst>
      <p:ext uri="{BB962C8B-B14F-4D97-AF65-F5344CB8AC3E}">
        <p14:creationId xmlns:p14="http://schemas.microsoft.com/office/powerpoint/2010/main" val="1773229595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94C814-494D-4027-A479-EF91B1F2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0A2AFF-4A66-45E0-A6E0-58019475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493B11-E574-4150-BBF0-BFCD8688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12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1268"/>
                </a:solidFill>
                <a:latin typeface="Aptos"/>
                <a:ea typeface="Aptos"/>
                <a:cs typeface="Aptos"/>
              </a:rPr>
              <a:t>C-END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504C6D-96A3-4375-B2E3-C6DEFE20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1000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C 端演示按真实购票链路推进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976CF3-549E-4A9C-AEA3-5C80F26C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Omni 万象抢票平台 | 答辩演示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2ACD88-E10E-4BB9-BC82-05FE3E20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4358C2-2C47-4CD0-92DA-947195B5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219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3E2E9B-0BB6-4EB7-977F-62FAC6B8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登录测试账号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04DC35-6C20-459E-AF63-80F8C7AC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33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C50F84-1559-4DEE-8E61-2720A38A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819400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014617-6AC4-4530-A43D-DE1B81F9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771775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20988D-747B-41B3-9DBD-516BEBA9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381250"/>
            <a:ext cx="1219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126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65DF82-04BC-482A-9ED4-BBFB188F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717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浏览活动列表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EA31D6-390E-42E5-8B22-B76D02B8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33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126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126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76F485-EE1B-46C3-8237-CC2386DF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19400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7ABAAB-B0A9-4679-B09E-8F269EE9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71775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5FACB7-5D28-4D0C-ACA2-17D305B0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381250"/>
            <a:ext cx="1219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95E617-64A3-497B-A954-5445A004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5717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进入活动详情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B3E422-B56F-4609-8D91-EFCADFDCA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933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0C1F85-1962-4AC7-B934-8122DB90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19400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5EA2FD-6FF3-4BF7-97D1-43EF1F41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71775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1856C0-1A93-4473-AE82-72BC387F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381250"/>
            <a:ext cx="1219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EE1A03-630B-4F76-B1F9-435DCDCC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717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选择场次和票档/座位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42B15D-5B6B-4790-A4C3-3F028905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933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6618BB-7862-420B-A893-FD735A04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19400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B41A22-E15F-4E4D-A65A-B2372DDD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71775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C88342-ADAE-464E-9423-E38E6691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81250"/>
            <a:ext cx="1219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24E54C-560C-43F9-A74A-E1CB11B5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717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创建订单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8B1E16-88CB-445C-9525-18D5F6A6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933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D7187F-6B77-4A36-86C7-D0BCB8C1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19400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D16F1E-1BB8-48A8-8271-8A5EC1C0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71775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A9DBA9-7D7A-405A-A34F-621A24EB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81250"/>
            <a:ext cx="1219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126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A6CB1D-19D0-4415-AA47-5518DE11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717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发起支付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643B35-3DF0-4936-A376-26A2191D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33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126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1268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FCE104-3254-463D-A3CC-8859A453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19400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A089AD-F1DB-4670-8828-219BB951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771775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206FD6-0057-450D-8B27-515B90B5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381250"/>
            <a:ext cx="1219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C16E470-39A3-47F2-A0B4-CD90CF6B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5717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查看订单状态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66C619C-59BC-4939-847C-9E8EF15B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933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741261850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F2DCCE-8D16-4BCE-8DA7-94B01CAA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FD872B-6DAE-4866-9A26-77DB1AF7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ABC0A6-1707-456E-AD8A-2882517F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12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1268"/>
                </a:solidFill>
                <a:latin typeface="Aptos"/>
                <a:ea typeface="Aptos"/>
                <a:cs typeface="Aptos"/>
              </a:rPr>
              <a:t>B-END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353A30-959A-4AFA-8C3E-16631D2B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1000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B 端演示说明票务供给如何进入 C 端可售状态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FACF7B-13C9-4719-8C24-4BAB7406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Omni 万象抢票平台 | 答辩演示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B79463-2F13-4CC2-B650-EF151912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B8CA8C-35F3-401A-9671-74075F4A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476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440BD9-55CA-4C99-8D8E-C97A203B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96EB58-C78E-42A6-BC66-FDC7D155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0500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主办方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A6964E-6C3E-4BA0-BA24-65D27038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4438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活动发布、场次配置、票档定价、座位图维护。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BC0595-6793-4334-9F17-28C04A87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52600"/>
            <a:ext cx="476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784BEA-CA18-4300-9F37-BA96D078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526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B4851C-2E81-43FD-8AF7-D5D9F9C4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0500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管理员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FDD756-E868-48BA-BA8D-9049420D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09800"/>
            <a:ext cx="4438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主办方审批、场馆申请审核、风险处理、数据治理。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610928-C01B-4154-85D9-F3D708466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476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ACC72C-851D-4AE9-960B-574AD408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9774C5-9B86-42A7-AF74-AE641D0F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Console 布局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B266AC-C191-4040-A97A-885EDB17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4438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统一侧边栏与表格/表单布局，支撑重复运营操作。</a:t>
            </a:r>
          </a:p>
        </p:txBody>
      </p:sp>
    </p:spTree>
    <p:extLst>
      <p:ext uri="{BB962C8B-B14F-4D97-AF65-F5344CB8AC3E}">
        <p14:creationId xmlns:p14="http://schemas.microsoft.com/office/powerpoint/2010/main" val="1162333697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19036B-3EC8-4CC5-879B-40935D34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EE9509-D09E-49CF-B399-B9EB15B2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C3B604-E50E-4D8D-81CA-B8FA7F25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12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1268"/>
                </a:solidFill>
                <a:latin typeface="Aptos"/>
                <a:ea typeface="Aptos"/>
                <a:cs typeface="Aptos"/>
              </a:rPr>
              <a:t>DEMO PLAN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E43759-BC5F-4D53-987D-A1D10878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1000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答辩演示用一条主线和两条补充线控制节奏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754D47-9952-49B8-B964-2E5A015B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Omni 万象抢票平台 | 答辩演示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E75923-08D8-4D88-B594-6CDFEB62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00CDAE-7916-47E2-BB76-006F459E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BA8F00-F2FF-426A-9F08-7B014E74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主线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7A8B78-0E6C-4E61-85EE-4AD6D820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000250"/>
            <a:ext cx="809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126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DEF747-95DE-425B-AA90-6507FA4D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20980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普通用户登录 -&gt; 浏览活动 -&gt; 下单 -&gt; 支付同步 -&gt; 订单状态变化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FA7E70-8F7D-421E-832E-E15E21E2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32410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86A739-35A6-4EE0-B952-BCC3E835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76475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63A09B-1AA9-4CC7-9EF4-ABA32A37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B8847A-9E1C-4DA4-AA0D-678B18E4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补充线 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11EE11-0D70-47B9-8AEC-AC2D47F6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124200"/>
            <a:ext cx="809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1708F7-6AF5-4001-AE2F-7F17FD3B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3337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主办方/管理员进入 Console，展示活动、场次、票档和座位图管理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3561DC-AE82-4F49-9D79-A0E43C6B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44805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3A25CE-E246-47EA-B877-D930FFEA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400425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C34D66-E2EA-4113-B02C-40F645F8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1F6392-9EA9-40CD-B917-49DA9DF6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577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补充线 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B44C0C-D180-48C7-88C6-AAF9A618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248150"/>
            <a:ext cx="809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A3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5EAA41-659C-4F57-B1B0-36040BE3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45770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展示边界验收命令和 prod-split 数据库连接检查结果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4F304D-5038-4D99-9D52-99AF74D9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57200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61D9AB-2AD4-41A7-A07C-6AE812F0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524375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F7FED0-ECED-4FB3-855B-5CA7ABEE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524500"/>
            <a:ext cx="8610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631DDB-7D72-4DC6-9C82-A5CC6FC5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638800"/>
            <a:ext cx="803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节奏控制：先跑通主链路，再用后台和验收命令补强工程可信度。</a:t>
            </a:r>
          </a:p>
        </p:txBody>
      </p:sp>
    </p:spTree>
    <p:extLst>
      <p:ext uri="{BB962C8B-B14F-4D97-AF65-F5344CB8AC3E}">
        <p14:creationId xmlns:p14="http://schemas.microsoft.com/office/powerpoint/2010/main" val="1805861380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37A420-29FB-4FF6-8815-03DFC0FC1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AAC34C-3155-4485-A499-C9F27F5B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144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SECTION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F8F516-408A-452B-893C-4A1BD909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590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CBF61B-0010-42F5-9DF3-4AFDDFFA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测试总结与展望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279E4F-E3D0-4CE2-8AE0-4C256200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685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0D5D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0D5DD"/>
                </a:solidFill>
                <a:latin typeface="Aptos"/>
                <a:ea typeface="Aptos"/>
                <a:cs typeface="Aptos"/>
              </a:rPr>
              <a:t>用验收命令、风险反思和未来方向收束。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7B6EE4-FE10-4416-8707-556537CE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31445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440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7C3713-3CD7-40C6-BB24-B15EFCDE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00250"/>
            <a:ext cx="15049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700" b="1">
                <a:solidFill>
                  <a:srgbClr val="FF1268"/>
                </a:solidFill>
                <a:latin typeface="Aptos"/>
                <a:ea typeface="Aptos"/>
                <a:cs typeface="Aptos"/>
              </a:defRPr>
            </a:pPr>
            <a:r>
              <a:rPr sz="5700" b="1">
                <a:solidFill>
                  <a:srgbClr val="FF126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70FB5F-0B37-4749-A1D0-B63ACA57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0D5D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0D5DD"/>
                </a:solidFill>
                <a:latin typeface="Aptos"/>
                <a:ea typeface="Aptos"/>
                <a:cs typeface="Aptos"/>
              </a:rPr>
              <a:t>Omni 万象抢票平台 | 答辩演示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7FA4A0-B34B-4838-B4E2-3AD87A23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0D5D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0D5DD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392211058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170AAA-7639-4F73-B479-D488094F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B82854-DF7E-46D6-98FF-41BC4BB8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B3EFE2-5F6A-4358-A9BE-E7BF9C69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12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1268"/>
                </a:solidFill>
                <a:latin typeface="Aptos"/>
                <a:ea typeface="Aptos"/>
                <a:cs typeface="Aptos"/>
              </a:rPr>
              <a:t>QUALITY GATE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EC0A6B-DF6C-440F-9BF9-01A654A3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1000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验收不是泛泛测试，而是围绕微服务边界和运行拓扑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5788EF-A378-4BFC-BCFB-13CA1F1D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Omni 万象抢票平台 | 答辩演示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3A2A6B-993A-49AC-A58E-54BF5EBE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F6F790-C30E-4F5B-9C4B-CB9C80A7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05000"/>
            <a:ext cx="4762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A1738C-EA07-49E4-99DA-472904AA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05000"/>
            <a:ext cx="57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79A723-90D8-4AEC-8B08-33A484AD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5740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边界验收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29AE14-C71A-401D-92B9-C7A1A02B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4438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scripts/verify-microservice-boundaries.ps1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D4B098-1822-4E34-B64A-2101BCF3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05000"/>
            <a:ext cx="4762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796794-0D3C-4660-BBDD-8F63933C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05000"/>
            <a:ext cx="57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927924-BBBA-4501-B593-D7A86183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5740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前端检查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53C212-6AD6-48BA-AB76-07F9C7ED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62200"/>
            <a:ext cx="4438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cd frontend &amp;&amp; pnpm typecheck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38EA46-4214-4502-87D4-4AD9B1DC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4762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F13186-1C79-43FB-A002-8A17DA48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57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1FE243-1D13-4E9D-AA24-F10B3C97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8615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Runtime verifier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4CEAEC-D739-4867-B21C-2BAEC0B0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90950"/>
            <a:ext cx="4438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verify-production-split-runtime.ps1 -TargetDatabaseByService 'ticket=omni_ticket_split'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B03013-4227-464F-B952-CF09F901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33750"/>
            <a:ext cx="4762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0D439C-DEB0-4214-A39E-D7BD8802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33750"/>
            <a:ext cx="57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43155C-A5A0-4FBE-8394-B7E8054A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8615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数据库连接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12A4D5-8561-4E43-8D67-7C14CDF1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90950"/>
            <a:ext cx="4438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pg_stat_activity 不应出现业务 JDBC 连到 omni_ticket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295A20-6841-44FD-90FA-9FC5ED3F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219700"/>
            <a:ext cx="9029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978BD6-047E-4E4D-9176-2BB5DA38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334000"/>
            <a:ext cx="842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演示路径：登录 -&gt; 浏览活动 -&gt; 创建订单 -&gt; 支付同步 -&gt; 查看订单状态</a:t>
            </a:r>
          </a:p>
        </p:txBody>
      </p:sp>
    </p:spTree>
    <p:extLst>
      <p:ext uri="{BB962C8B-B14F-4D97-AF65-F5344CB8AC3E}">
        <p14:creationId xmlns:p14="http://schemas.microsoft.com/office/powerpoint/2010/main" val="1442835537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ED8072-5E06-4DE3-AE15-86AA4279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D13825-ECE3-4A7F-9165-A29591D7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76A113-7AB8-4B1C-821B-00C7624A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12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1268"/>
                </a:solidFill>
                <a:latin typeface="Aptos"/>
                <a:ea typeface="Aptos"/>
                <a:cs typeface="Aptos"/>
              </a:rPr>
              <a:t>VALUE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00CD45-A358-400A-99E9-2D775720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1000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项目亮点从“技术很多”调整为“边界清楚、链路完整、可验证”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B22665-A3D9-47F0-A8E1-9EE55A59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Omni 万象抢票平台 | 答辩演示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F701EF-3A1C-44F4-8642-1990B9BA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6141D0-B184-4A36-A06D-F7B5FCB6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476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1B85BE-2A75-4968-AD81-65FB94C2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740C45-8E44-41E2-A2AB-E6111E69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0500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架构亮点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7598FE-AC84-474B-9F0A-35B40097E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4438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五个业务服务 + 五库拆分，服务拥有独立数据边界。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608CF7-06B4-4640-9503-20CF611C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52600"/>
            <a:ext cx="476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FA26E2-A4A9-4380-81A2-19C34D9E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526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EC4C88-5422-408E-85F0-9F1AB20D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0500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业务亮点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29941D-175E-40C7-88C0-E48060BB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09800"/>
            <a:ext cx="4438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 端供给和 C 端购买能串成完整票务闭环。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655AFF-96BB-4F6C-8F7F-EE3BF4B1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476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B229D0-E9A2-45CF-BA59-CA201462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724D5B-D8FD-466B-AEEB-8F06A6E2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工程亮点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12CA7A-DC6D-4FAB-B303-59B031AA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4438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启动脚本、边界检查、runtime verifier 支撑本机联调。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3E56AA-08A5-414F-921C-C7CADB4E5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19450"/>
            <a:ext cx="476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9A8FBA-D27E-4116-B508-DF12CDFB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194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DE56B7-A959-4891-9BB3-5632B639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7185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协作亮点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7FE064-03F5-4E41-BC42-5B5D4998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76650"/>
            <a:ext cx="4438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三组按业务链路分工，答辩叙事自然衔接。</a:t>
            </a:r>
          </a:p>
        </p:txBody>
      </p:sp>
    </p:spTree>
    <p:extLst>
      <p:ext uri="{BB962C8B-B14F-4D97-AF65-F5344CB8AC3E}">
        <p14:creationId xmlns:p14="http://schemas.microsoft.com/office/powerpoint/2010/main" val="1648602944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8B5667-98A5-40CB-B663-27C4E122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BDF08B-F712-4998-90E9-920E9DE5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A8FFAA-C049-4B66-835C-40B3FE67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12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1268"/>
                </a:solidFill>
                <a:latin typeface="Aptos"/>
                <a:ea typeface="Aptos"/>
                <a:cs typeface="Aptos"/>
              </a:rPr>
              <a:t>NEXT STEPS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D9C5F2-1747-49FF-BB6F-8C54F6194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1000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未来优化方向应围绕高并发、可观测性和支付可靠性继续深化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5E707-E2D9-4103-8A56-B2A59809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Omni 万象抢票平台 | 答辩演示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E9C87C-EDB0-4194-97C7-A5C5A0F3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347840-FEC0-4FC1-B4EA-2F7B48AD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476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B590BF-86C6-4E83-92FF-B67B3390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2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DED15B-3B06-4337-9BB2-15288EC8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0500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抢票核心增强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BF52D7-B628-4BC4-9AD9-4DA521195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4438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完善 Redis 队列、限流、令牌和库存预热策略。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9C78D1-BD72-4998-B898-658FCA58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52600"/>
            <a:ext cx="476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6E341D-2B89-47D8-8B05-FD4FB789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526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75D149-1A4F-4CBF-ABC0-1C0614F4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0500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可观测性建设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63CAEB-9120-4D3E-ABC2-A487C156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09800"/>
            <a:ext cx="4438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补充日志聚合、链路追踪、指标监控和告警。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C34700-AE7E-4B6C-9D76-459C7618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476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5367DD-3081-4F71-8896-FCCE233E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DDBE7F-D2A1-4375-9559-699DECE37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支付补偿机制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7ADB21-DFCF-4F6C-BFBA-220015E6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4438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强化回调幂等、异常补偿和对账流程。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25F631-29C5-4B27-B2D7-0C815308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19450"/>
            <a:ext cx="476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DC7BFB-F9DE-487A-A4A3-7376EAF7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194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C4EAD3-C52B-4E6A-BACE-E8C8C4BD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7185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搜索体验升级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AF13B3-4FAC-4BAD-960A-FFE863E8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76650"/>
            <a:ext cx="4438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将 ES 搜索作为明确后续能力，而不是当前默认运行依赖。</a:t>
            </a:r>
          </a:p>
        </p:txBody>
      </p:sp>
    </p:spTree>
    <p:extLst>
      <p:ext uri="{BB962C8B-B14F-4D97-AF65-F5344CB8AC3E}">
        <p14:creationId xmlns:p14="http://schemas.microsoft.com/office/powerpoint/2010/main" val="1004325400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D8EEE2-1BF2-4E11-BD9D-24C2EBD3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EE7442-A958-4542-9B2D-2EDF8E53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647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感谢观看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E54596-2D09-4AAB-A009-DCE23A1E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81300"/>
            <a:ext cx="666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0D5DD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D0D5DD"/>
                </a:solidFill>
                <a:latin typeface="Aptos"/>
                <a:ea typeface="Aptos"/>
                <a:cs typeface="Aptos"/>
              </a:rPr>
              <a:t>Omni 万象抢票平台：微服务架构实践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2C4FC6-E523-4DB4-B930-BCB7C003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4405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768B5B-60B5-43BB-BDC7-1EC58304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860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Q&amp;A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E11211-C205-4D15-B68B-CDF5326C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0D5D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0D5DD"/>
                </a:solidFill>
                <a:latin typeface="Aptos"/>
                <a:ea typeface="Aptos"/>
                <a:cs typeface="Aptos"/>
              </a:rPr>
              <a:t>Omni 万象抢票平台 | 答辩演示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CF17C8-56C8-42A9-97BF-3338FAC2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0D5D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0D5DD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2532644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2026-06-03T17:05:41.3080000Z</dcterms:created>
  <dcterms:modified xsi:type="dcterms:W3CDTF">2026-06-03T17:05:41.3080000Z</dcterms:modified>
</coreProperties>
</file>