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4a4f95fa624fc9" /><Relationship Type="http://schemas.openxmlformats.org/officeDocument/2006/relationships/extended-properties" Target="/docProps/app.xml" Id="Rfff9dc9f16614024" /><Relationship Type="http://schemas.openxmlformats.org/officeDocument/2006/relationships/officeDocument" Target="/ppt/presentation.xml" Id="R1f945fa0ed4747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1700caf2e6469e"/>
  </p:sldMasterIdLst>
  <p:notesMasterIdLst>
    <p:notesMasterId xmlns:r="http://schemas.openxmlformats.org/officeDocument/2006/relationships" r:id="R788a1ec202b84a9d"/>
  </p:notesMasterIdLst>
  <p:sldIdLst>
    <p:sldId xmlns:r="http://schemas.openxmlformats.org/officeDocument/2006/relationships" id="256" r:id="Rba6be8516f034a4e"/>
    <p:sldId xmlns:r="http://schemas.openxmlformats.org/officeDocument/2006/relationships" id="257" r:id="R9cb8bb07fd9a4af8"/>
    <p:sldId xmlns:r="http://schemas.openxmlformats.org/officeDocument/2006/relationships" id="258" r:id="R1e515636de864498"/>
    <p:sldId xmlns:r="http://schemas.openxmlformats.org/officeDocument/2006/relationships" id="259" r:id="R2421c60f0d3743b3"/>
    <p:sldId xmlns:r="http://schemas.openxmlformats.org/officeDocument/2006/relationships" id="260" r:id="Rb8191fe177e344c0"/>
    <p:sldId xmlns:r="http://schemas.openxmlformats.org/officeDocument/2006/relationships" id="261" r:id="R9f116fee9b9f4b4b"/>
    <p:sldId xmlns:r="http://schemas.openxmlformats.org/officeDocument/2006/relationships" id="262" r:id="R5f8215fc5c3142ef"/>
    <p:sldId xmlns:r="http://schemas.openxmlformats.org/officeDocument/2006/relationships" id="263" r:id="R0d2f7e97ccc54740"/>
    <p:sldId xmlns:r="http://schemas.openxmlformats.org/officeDocument/2006/relationships" id="264" r:id="R99f02a619e9f4fdb"/>
    <p:sldId xmlns:r="http://schemas.openxmlformats.org/officeDocument/2006/relationships" id="265" r:id="R44ceafdebe30419d"/>
    <p:sldId xmlns:r="http://schemas.openxmlformats.org/officeDocument/2006/relationships" id="266" r:id="R7f0417e6e8cc48ea"/>
    <p:sldId xmlns:r="http://schemas.openxmlformats.org/officeDocument/2006/relationships" id="267" r:id="R5180933ebc8e42c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9ff443ba814971" /><Relationship Type="http://schemas.openxmlformats.org/officeDocument/2006/relationships/slideMaster" Target="/ppt/slideMasters/slideMaster1.xml" Id="Raf1700caf2e6469e" /><Relationship Type="http://schemas.openxmlformats.org/officeDocument/2006/relationships/notesMaster" Target="/ppt/notesMasters/notesMaster1.xml" Id="R788a1ec202b84a9d" /><Relationship Type="http://schemas.openxmlformats.org/officeDocument/2006/relationships/presProps" Target="/ppt/presProps.xml" Id="Rdea89ca1bfbe49d3" /><Relationship Type="http://schemas.openxmlformats.org/officeDocument/2006/relationships/viewProps" Target="/ppt/viewProps.xml" Id="R6338dfd201bf4514" /><Relationship Type="http://schemas.openxmlformats.org/officeDocument/2006/relationships/tableStyles" Target="/ppt/tableStyles.xml" Id="R954dea8624394a91" /><Relationship Type="http://schemas.openxmlformats.org/officeDocument/2006/relationships/slide" Target="/ppt/slides/slide1.xml" Id="Rba6be8516f034a4e" /><Relationship Type="http://schemas.openxmlformats.org/officeDocument/2006/relationships/slide" Target="/ppt/slides/slide2.xml" Id="R9cb8bb07fd9a4af8" /><Relationship Type="http://schemas.openxmlformats.org/officeDocument/2006/relationships/slide" Target="/ppt/slides/slide3.xml" Id="R1e515636de864498" /><Relationship Type="http://schemas.openxmlformats.org/officeDocument/2006/relationships/slide" Target="/ppt/slides/slide4.xml" Id="R2421c60f0d3743b3" /><Relationship Type="http://schemas.openxmlformats.org/officeDocument/2006/relationships/slide" Target="/ppt/slides/slide5.xml" Id="Rb8191fe177e344c0" /><Relationship Type="http://schemas.openxmlformats.org/officeDocument/2006/relationships/slide" Target="/ppt/slides/slide6.xml" Id="R9f116fee9b9f4b4b" /><Relationship Type="http://schemas.openxmlformats.org/officeDocument/2006/relationships/slide" Target="/ppt/slides/slide7.xml" Id="R5f8215fc5c3142ef" /><Relationship Type="http://schemas.openxmlformats.org/officeDocument/2006/relationships/slide" Target="/ppt/slides/slide8.xml" Id="R0d2f7e97ccc54740" /><Relationship Type="http://schemas.openxmlformats.org/officeDocument/2006/relationships/slide" Target="/ppt/slides/slide9.xml" Id="R99f02a619e9f4fdb" /><Relationship Type="http://schemas.openxmlformats.org/officeDocument/2006/relationships/slide" Target="/ppt/slides/slide10.xml" Id="R44ceafdebe30419d" /><Relationship Type="http://schemas.openxmlformats.org/officeDocument/2006/relationships/slide" Target="/ppt/slides/slide11.xml" Id="R7f0417e6e8cc48ea" /><Relationship Type="http://schemas.openxmlformats.org/officeDocument/2006/relationships/slide" Target="/ppt/slides/slide12.xml" Id="R5180933ebc8e42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6d690ee8b14b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9a883aeeea4548" /><Relationship Type="http://schemas.openxmlformats.org/officeDocument/2006/relationships/notesMaster" Target="/ppt/notesMasters/notesMaster1.xml" Id="R8232e26fa63649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956df09fe0431a" /><Relationship Type="http://schemas.openxmlformats.org/officeDocument/2006/relationships/notesMaster" Target="/ppt/notesMasters/notesMaster1.xml" Id="R08d4bce3aca842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efd1182bcf4728" /><Relationship Type="http://schemas.openxmlformats.org/officeDocument/2006/relationships/notesMaster" Target="/ppt/notesMasters/notesMaster1.xml" Id="R8d99f9add3df40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167f11a28b4421" /><Relationship Type="http://schemas.openxmlformats.org/officeDocument/2006/relationships/notesMaster" Target="/ppt/notesMasters/notesMaster1.xml" Id="Rf507f25119d048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c97fdd29034382" /><Relationship Type="http://schemas.openxmlformats.org/officeDocument/2006/relationships/notesMaster" Target="/ppt/notesMasters/notesMaster1.xml" Id="R43bfeeffba634a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2cbaa037214c9a" /><Relationship Type="http://schemas.openxmlformats.org/officeDocument/2006/relationships/notesMaster" Target="/ppt/notesMasters/notesMaster1.xml" Id="R752eca0100c048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cf09a585ff4430" /><Relationship Type="http://schemas.openxmlformats.org/officeDocument/2006/relationships/notesMaster" Target="/ppt/notesMasters/notesMaster1.xml" Id="Ra2dac21b0a4547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73f72f06cf4d47" /><Relationship Type="http://schemas.openxmlformats.org/officeDocument/2006/relationships/notesMaster" Target="/ppt/notesMasters/notesMaster1.xml" Id="R3827de4f4e6d49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05f984cfbb408e" /><Relationship Type="http://schemas.openxmlformats.org/officeDocument/2006/relationships/notesMaster" Target="/ppt/notesMasters/notesMaster1.xml" Id="Rd97768b8a6a74b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176941a5d44a1a" /><Relationship Type="http://schemas.openxmlformats.org/officeDocument/2006/relationships/notesMaster" Target="/ppt/notesMasters/notesMaster1.xml" Id="R54021ac7b7844c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f7febc9e874a25" /><Relationship Type="http://schemas.openxmlformats.org/officeDocument/2006/relationships/notesMaster" Target="/ppt/notesMasters/notesMaster1.xml" Id="R19a2239a21b441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b0cf75b1de43b7" /><Relationship Type="http://schemas.openxmlformats.org/officeDocument/2006/relationships/notesMaster" Target="/ppt/notesMasters/notesMaster1.xml" Id="R33236627f9b24d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58c7bebf8749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b5e145e2b64bdb" /><Relationship Type="http://schemas.openxmlformats.org/officeDocument/2006/relationships/slideLayout" Target="/ppt/slideLayouts/slideLayout1.xml" Id="Re197e84372fd4b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97e84372fd4b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899076314470b" /><Relationship Type="http://schemas.openxmlformats.org/officeDocument/2006/relationships/notesSlide" Target="/ppt/notesSlides/notesSlide1.xml" Id="R972da143a47946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b2934ccbc4ac8" /><Relationship Type="http://schemas.openxmlformats.org/officeDocument/2006/relationships/notesSlide" Target="/ppt/notesSlides/notesSlide2.xml" Id="R89097c02f05d42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92b25121f4b6a" /><Relationship Type="http://schemas.openxmlformats.org/officeDocument/2006/relationships/notesSlide" Target="/ppt/notesSlides/notesSlide3.xml" Id="Re2f39cf2a13e42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486e7a24f41d3" /><Relationship Type="http://schemas.openxmlformats.org/officeDocument/2006/relationships/notesSlide" Target="/ppt/notesSlides/notesSlide4.xml" Id="R93bb98891f1b4b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b693f4dc74b49" /><Relationship Type="http://schemas.openxmlformats.org/officeDocument/2006/relationships/notesSlide" Target="/ppt/notesSlides/notesSlide5.xml" Id="R29ffa353290243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8693d5af4418f" /><Relationship Type="http://schemas.openxmlformats.org/officeDocument/2006/relationships/notesSlide" Target="/ppt/notesSlides/notesSlide6.xml" Id="R83dc7f9851d943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48ee201094326" /><Relationship Type="http://schemas.openxmlformats.org/officeDocument/2006/relationships/notesSlide" Target="/ppt/notesSlides/notesSlide7.xml" Id="R5d5a7c6fe38343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ceffe287c409b" /><Relationship Type="http://schemas.openxmlformats.org/officeDocument/2006/relationships/notesSlide" Target="/ppt/notesSlides/notesSlide8.xml" Id="R70e22ca8f55140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2c39004f34f1a" /><Relationship Type="http://schemas.openxmlformats.org/officeDocument/2006/relationships/notesSlide" Target="/ppt/notesSlides/notesSlide9.xml" Id="Rff0edcf2d7874c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12a01fd7f4d5d" /><Relationship Type="http://schemas.openxmlformats.org/officeDocument/2006/relationships/notesSlide" Target="/ppt/notesSlides/notesSlide10.xml" Id="Reee5324977264e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829efe96946cd" /><Relationship Type="http://schemas.openxmlformats.org/officeDocument/2006/relationships/notesSlide" Target="/ppt/notesSlides/notesSlide11.xml" Id="Rf3591d950db348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0248823e44df8" /><Relationship Type="http://schemas.openxmlformats.org/officeDocument/2006/relationships/notesSlide" Target="/ppt/notesSlides/notesSlide12.xml" Id="Rb2f1fb35e9754cf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1AE78-6DD7-4CDD-8332-BCAC75E2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0376D-BF01-4182-8A0E-82E1C1B8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47397-FA57-47B6-9592-B687BD6E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66750"/>
            <a:ext cx="40005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B344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F7B79-0A2F-4255-860C-7EF069B4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6205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126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9BCF0-EF35-4B2F-838B-3C1D96C2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6685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1A252-C7D8-4AC0-9C79-8D46360C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7637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E89F6-42E6-4B5F-A1D4-62E1182D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52600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F1EC8-CE98-437D-BE45-94BE5EDD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38350"/>
            <a:ext cx="1600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6F06D-CC82-48F2-9EF5-AA03DE70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81350"/>
            <a:ext cx="590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61552-6DE1-4EAF-9E9D-619810CC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956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BE4C3-8584-46B0-BF31-6E762B83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543300"/>
            <a:ext cx="590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38472-A015-46B7-8ADE-CB72FB05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5760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C7BC4A-5BD2-4F92-AA7C-8C6BC487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81350"/>
            <a:ext cx="590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B2962-E5BD-4C56-BF59-B02A3D02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956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96146-71F7-40CE-9218-42DAD11A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543300"/>
            <a:ext cx="590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25C08-F7FC-41D8-875C-B6596DF7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5760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DC3ADC-C536-472A-ABB6-A91CD873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81350"/>
            <a:ext cx="590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A83C23-29CF-48F6-97AD-2B5EB361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2956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22E7D2-B38D-412C-994E-228D5188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6250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AC792B-E62E-4186-B5D2-4BF6B92C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14900"/>
            <a:ext cx="2133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prod-split 五库联调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8C0197-A33C-4967-8510-776B6BE1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4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C27F3F-A892-445E-B3D9-BEBF804B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项目答辩 PPT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EB7B87-4C5B-4006-8D8B-B0F95D60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万象抢票平台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0A0611-BFD0-4B2C-92BB-2FCAEB9E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4F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F4F7"/>
                </a:solidFill>
                <a:latin typeface="Aptos"/>
                <a:ea typeface="Aptos"/>
                <a:cs typeface="Aptos"/>
              </a:rPr>
              <a:t>按业务链路拆分的微服务答辩方案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68E85-0CE6-41A5-BD66-35343D7A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5715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六人三组协作：用户入口、票务核心、交易闭环，共同串起一条完整购票流程。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24EEBE-1F8C-420A-84DD-679B46D7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59A564-C938-45E3-9DE5-231B70C5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业务微服务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5B58B8-5B9D-4AC6-A067-DDB84BE0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用户、票务、订单、支付、通知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E86B2F-9768-4BD1-9E73-B3903F14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36245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25B076-5336-48AE-9095-7CE452BE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81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中间件/基础设施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1311FE-8D3C-488E-91D4-86D08DDC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0101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数据、注册、事务、消息与运行支撑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BD5EFA-0E21-4A79-97CF-CFAD29C4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6245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83C64A-4BE5-4D9C-A484-F849DCA2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81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两人小组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6F5254-D553-4F8B-AD25-62E0C73B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101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每组负责可独立讲述的业务段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90D9C0-8521-49E7-BC2D-B65B56BF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724061-C56C-40CB-A59A-E5D32A90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330601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50D85D-3D0C-4288-8B52-18DF2773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90FCE-AEE7-4C6C-B55B-156BF74D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E4FB8-D10B-4A33-8851-D9A3823C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PROJECT POSITIONING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1F5BB-7906-4568-B97F-50CB14B6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平台定位是 B 端主导、C 端参与的票务闭环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CB73F-098A-4DE2-81FA-9F9BBD80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主办方负责票务供给，用户完成浏览、选座、下单、支付和订单查看。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CE744-59FC-42F8-A076-F37CBF01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B"/>
          </a:solidFill>
          <a:ln xmlns:a="http://schemas.openxmlformats.org/drawingml/2006/main" w="9525">
            <a:solidFill>
              <a:srgbClr val="FFD1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0E135-A6C6-49B4-83ED-ADE4D0C7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7625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04142-7533-405F-8C91-4CB232F0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B 端：平台管理员 / 主办方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DF31F-D168-4E19-A019-9628F963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621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 端：普通用户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26A52-6C40-420B-93E5-D0646364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361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51A5F-4399-4227-896D-36B3DBF0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3C635-EA90-4A38-B7D3-9158A6BC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81300"/>
            <a:ext cx="3295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供给侧管理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97267-F9DE-4EE2-A679-97F880B3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3295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活动、场次、票档、场馆、座位图、艺人资料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D7D1F-950F-4990-8F29-3C0F6F44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361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75174-1003-44EB-ACAF-2F2DCB5D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F6BF9-7A14-4FEE-9494-2677D79A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76650"/>
            <a:ext cx="3295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后台治理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06471F-5282-43EC-94CB-9DADF85F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3295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主办方申请、场馆审核、风险处理、数据概览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126686-78DC-4ED9-A75B-72A9C4A8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361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30D49-8C09-4940-B79C-02DE25B3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345FA3-3527-4A42-8505-CE2A5767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3295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核心目标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5EC1A7-A70F-4A51-8AA2-E97BEE6A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76800"/>
            <a:ext cx="3295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保证票务信息准确，支撑可售库存与座位映射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EC22AC-1393-431D-8755-06765FCB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28900"/>
            <a:ext cx="361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738A87-F355-441B-9717-ABBCDC85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289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8D42ED-822E-4498-A7DD-E6D93BF2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3295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用户入口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99666A-B462-4A17-8ADE-97D8C5FC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86100"/>
            <a:ext cx="3295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注册登录、浏览活动、搜索、查看详情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71555E-B6BC-458D-9601-DFF2D8F9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24250"/>
            <a:ext cx="361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061E1B-4FC4-4B0E-B2E8-59275162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242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730480-9B5F-4933-824B-8259D9D1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76650"/>
            <a:ext cx="3295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购买体验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DF4C65-A0A5-48DE-AC04-F90F4AD0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81450"/>
            <a:ext cx="3295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选择场次、票档、座位，创建订单并支付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B28E2A-596E-4C40-A611-21B3A709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19600"/>
            <a:ext cx="361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129999-8C37-4678-9F51-7590F105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196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4CEFB2-BB7F-4F1E-B052-2B74BA0C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72000"/>
            <a:ext cx="3295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结果闭环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3AE06E-472A-4F1F-88C5-9786C560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76800"/>
            <a:ext cx="3295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支付结果、订单列表、通知与后续退款处理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691950-0527-481E-A34C-832ED324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76550"/>
            <a:ext cx="1333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4BFAFD-233D-4D89-8E0D-AD26F6A9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813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Omni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E6F3DF-4534-4311-B0FD-A75EC209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814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0D5DD"/>
                </a:solidFill>
                <a:latin typeface="Aptos"/>
                <a:ea typeface="Aptos"/>
                <a:cs typeface="Aptos"/>
              </a:rPr>
              <a:t>统一票务平台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4498DD-1B37-4B89-8967-F172DBC7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433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D999E4-4714-49E0-9C5F-29E1FF4C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956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58909C-2EB2-4398-9932-BF32A2D5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433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C2D9C1-8254-4833-844A-A3CE9B75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956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E2AAEB-B05E-4E53-A8AA-6D6C93F8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3405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C91431-1261-4198-B4B1-4E8857AD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912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一条演示链路贯穿三组答辩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29E9C6-E561-40A2-B4C6-1B50B6B6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762E10-E44B-405F-B98D-A6B5536D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237452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A43F9A-C8C4-4215-B688-F2B06D4F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C7C26-612E-43C3-8444-4F33858A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CC73F-96B2-4260-9394-1216946E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TEAM SPLIT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481F0-C2B1-4B6B-876D-8258DF68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三组按业务链路负责，答辩时能自然串成完整流程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0EE4B-DE40-4B52-8ECD-6C6A2FC1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每两人负责一个可独立讲清楚、又能前后衔接的业务段。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107CC-68B0-49FF-B727-5E996618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654C6-F199-4C10-B5B7-FAB1B8A7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第 1 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6FB6A-268B-4CDE-B2A2-D47B7EAD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用户与入口层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55621-63D9-43C6-B4E0-A80E729D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954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D7212-BE39-4AF8-93ED-AF4613E1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478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第 2 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DF7E1-1C26-4A54-A33F-AEB4ECBF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14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票务核心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7C788-92D2-4112-B176-21581136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D68F4-939F-4082-B16A-723E73C7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第 3 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96AC1-1422-43F1-B8E3-C13CE04E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14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交易闭环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E85EC-3A29-4A48-BBB1-AAE9ED45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A3DA1-7D1C-4984-829B-EDED41ED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FBF0E-3293-48CA-AA3A-63C4B224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负责范围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B0991C-A996-4D0B-8545-17546357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819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java-user + java-gateway + 前端登录/权限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EE8B8-9FDD-4490-8F1E-587DF6EF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2890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3E15C-F643-4521-90FC-6525BA36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289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A43A07-FF92-4B4D-8352-0999DC6E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813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负责范围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B0CC03-A27A-4B95-A881-D461C817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86100"/>
            <a:ext cx="2819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java-ticket + C/B 端活动、票档、座位相关页面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59C8A7-CD6A-46C2-BC57-196A75CB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2890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A731C6-492D-4741-BC69-63467E2D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289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F784BF-E51C-4A5F-A23E-618DD5D0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负责范围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763276-DF99-4E11-9407-2DC6B253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86100"/>
            <a:ext cx="2819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java-order + java-payment + java-notification + 订单/支付前端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5C3D66-E58B-4040-85C3-A8568CF6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07D5F8-1606-42A2-8A48-40AB0DC6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B6AA12-8560-49B0-8C5F-10224520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答辩重点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B9713B-741D-450C-92F6-BDA652A3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2819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JWT、角色权限、网关路由、统一入口、internal token 的安全边界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918527-826E-4B39-BE8E-07254019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5285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0D520F-F99D-4CCB-8223-926682F1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528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3971EF-ABBE-4AB1-A31E-501E0BC0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答辩重点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EE1302-6392-40EE-B66D-5CDCF04B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10050"/>
            <a:ext cx="2819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活动供给、场次票档、SeatCraft 座位图、库存锁定接口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0B4434-E61A-43B4-998B-BB9DBBF1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3C962D-8C23-4CC6-B35A-621BF7E5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E751A4-5617-46ED-902B-F6208053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052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答辩重点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2968E4-F398-49D1-8E60-AE977BE6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2819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订单快照、库存确认、支付宝沙盒、支付同步、通知和退款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B29758-5D86-4939-BF7E-A3C16D3A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07DB12-DC4F-46D2-9241-1D20E09A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43550"/>
            <a:ext cx="914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推荐串讲顺序：登录拿 token -&gt; 浏览活动和选座 -&gt; 创建订单、支付、查看订单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7A1605-A0B6-40C9-9143-6869DCBD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589096-77F7-4641-A535-451C9034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839115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2ABF12-1866-44BC-8F9D-9AC2B394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1656A-1DAE-418A-BC6B-5912759B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6434F-49F0-4DB9-AAFA-53F5997F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0E852-497B-457D-B57E-CC31D132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前端经网关进入五个业务服务，服务边界靠 internal API 串联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47E1F-C914-4827-9639-897212A7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本机推荐 prod-split：五个业务服务分别连接五个 PostgreSQL database。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8AEA0-2E80-466A-BDCA-B64B1BCB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F28D1-CD58-4390-BA69-3F0C581B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A6AC6-B1E9-4062-B7C7-6483445C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Next.js 前端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D63A7-2EF8-4EE8-9344-3EF707CF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:3000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 端 + B 端 console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CB77B-6680-49B9-A4DB-8BFC0CF5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764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7C280-B157-458D-AAB4-5FFA1AF3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764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4D2BA-729C-4D11-A1E8-74FA81C8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479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java-gateway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BB038-E423-4987-920F-DFECBA37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33650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:8088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统一 API 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BCA18-A337-472F-A8B5-D622191C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765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D7A06-5C2E-4D02-8439-DD50FC40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288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523FC-64D8-4D50-8184-83A27FEC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00200"/>
            <a:ext cx="1638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052EE-086B-45E5-9BAF-DB0EEFE8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00200"/>
            <a:ext cx="1638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106DB9-17E9-4DEE-989B-9519FA5F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7716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java-user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CEF7AD-56EA-46E7-B363-565CE99A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574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:8081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用户/角色/JWT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4EBD7-D01F-48ED-8F12-707B06F8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1638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12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6BAF5-6E56-44EB-AAB0-CFF4A170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1638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67C0C5-1E75-4AAC-822C-5C0A051C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716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java-ticket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F0B428-1831-4DFF-93F8-B0FDC789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574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:8082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活动/票档/座位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8788A9-8D1E-4682-A833-914B74F6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28950"/>
            <a:ext cx="1638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55DD3D-F8FC-44DE-BA13-7A2C0949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28950"/>
            <a:ext cx="1638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931ABD-9D03-4CDB-8FEC-20C145F5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004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java-order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60E741-651C-4945-B19E-728AE87D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8615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:8083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订单/快照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BCD9BE-3473-4370-8DD8-93AE631A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1638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45C767-B6AC-4AF5-8572-593ABA2C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1638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07B9F1-DC7B-487A-B654-A0DD2E4B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004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java-payment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D66AE4-9C1A-4D83-9AA8-BDDD29F5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8615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:8084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支付/退款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06288B-D198-4576-862A-297155BA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1638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EB7C0B-9031-43EB-88C8-DA271A78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1638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3F771C-2243-42B8-B617-C30F6A85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004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java-notification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9F0F74-4AD1-4981-8272-42250664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8615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:8085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站内/短信/邮件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DCC6F3-12CB-48CB-B99B-CF279B63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050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17DEC8-706C-4E89-97CC-7228B158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5742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71746F-E8D7-4F09-8B94-2B3722FC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38400"/>
            <a:ext cx="2895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E7D8DE-DC96-4735-A8AA-31AD9646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907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E54067-33E3-443F-BB21-7FE1CCA2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098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41C949-7A1B-448F-814C-5D11237C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6222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7039EE-7A5C-4ECF-BECC-4E9E3187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43200"/>
            <a:ext cx="2895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0A77C8-2686-46B4-86B5-A11207F6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955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66F1E0-2C74-4A47-861E-972D5296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76550"/>
            <a:ext cx="499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9817E5-E08A-4608-9E20-0B22DEE5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2892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D2CD87-01B4-4A0E-AFB3-22990354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19350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23CB36-3A90-4F91-9878-C39676B8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419350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A01CB7-1932-4920-8DBA-85194EBB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290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CF818B-D658-47D5-95BD-2EC33CAD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B9CE7B-1F8C-4328-8F44-A99AF007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290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ACFDBA-7F19-4FF3-9689-6C3806D0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813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CDBB6B-8FCC-4ABB-BE26-B31CB5C5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C624C2-F0F7-43C2-91B0-C11D90F1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5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D1989D-6E8F-4C41-B827-F5A3D1AF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244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omni_user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CF0E46-7D2A-48C1-9C6E-6952FC43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530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java-user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E18ACA-096F-4B1C-A7AA-9CB01991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292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FF126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9C98895-18B2-4D05-AE8D-A8C874DD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43500"/>
            <a:ext cx="15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268BAE8-823A-4D80-BA4A-4BBE91AA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244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omni_ticket_split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D3A14A-8B8C-421E-8D3C-5BD6FA4C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530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java-ticket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C265340-5C96-47B8-BE27-0546BD48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0292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49E59F8-B7D6-431A-BFFD-3EE2E483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43500"/>
            <a:ext cx="15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93623B7-10FB-44CA-83E5-696A221F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1244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omni_order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A96AF95-095F-4FAF-ADCF-D503DB95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3530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java-order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EB2B1A-1001-4563-B4A5-FE84B0EB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64B323D-0A9F-4EB8-B6D9-0C536927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43500"/>
            <a:ext cx="15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F5A8602-2121-488D-B294-C738ACFF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244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omni_payment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9DB85DD-7FEE-4CDB-B136-3254B3D0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530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java-payment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3B30F2E-5EB4-4FE5-AB41-AA68864B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292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2DD4B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62139F9-DCFE-4CBB-9FBB-52F37937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43500"/>
            <a:ext cx="15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17DD119-3F38-45BA-9959-87EEEDC2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244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omni_notification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235F31C-6B46-4C2F-BD61-989FC1CA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530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java-notification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2F9FD59-D7A3-46A1-B943-49921ABE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硬边界：订单服务不跨查 user/ticket 表；支付服务不跨查 order/user/ticket 表；internal API 必须校验 X-Internal-Token。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BF4D994-8C8B-427F-B621-2B04C97A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09DED4A-4E83-4972-AE11-340C3B2E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703914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B648BA-6E5C-4843-A3A9-D6B30FB2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3DE40-42DD-42E7-ACAB-D62E9954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7F3FE-8A95-46CC-81AE-C1A36DBA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02986-2814-4B29-96B2-C82ABAA4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八个中间件/基础设施组件支撑服务发现、数据、事务、消息和运行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FE14A-86B6-4E67-A2E5-8CAB294F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答辩时按“它解决什么问题”讲，比逐个背配置更清楚。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6F2E1-3B17-4639-8E86-BE1B84D6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228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EB4D7-6DDB-454E-87D7-46C009A6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51514-1025-4CE8-BFD9-E95AEF10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A5C22-DE0A-48E5-9D5A-202F59B3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0025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7BDB7-7913-4FA0-9A46-AF6498BB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241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五库 prod-split 数据持久化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BC103-B903-4322-BB3E-2463BB49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33550"/>
            <a:ext cx="228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A4017-6EC7-484A-BDAF-BDE83FE6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3355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ED0A2-51C3-4C0D-A3ED-7A2F4B20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193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BB0E3A-7C32-4D83-B528-2DF0222D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EB3C0-D223-49A3-902A-5EA22FF1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241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抢票/缓存/高并发预留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E30E59-DB66-4029-B468-2EDFE378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228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C676B-578D-4A7C-90E7-F458A2AF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1ED00-791F-4313-A2DA-56D765CE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193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64670-7A48-4D0E-BDB8-34299B6C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0025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Nacos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149B04-BBE7-4262-A128-1FB26C74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注册中心与配置中心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D46CE1-28E2-4571-BAAC-E7BCC60C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33550"/>
            <a:ext cx="228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AD2CB3-6C99-4141-A9DA-DADDABAE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3355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516134-9A4A-4E1A-AB1E-DF2B82B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193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2EC5F2-FEF2-4C37-99C9-A5C30A1B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0025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Seata Config Init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0A9663-6615-40D6-B349-BA8C8F80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初始化分布式事务配置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BC3D65-F4E3-418E-A8BE-1B724374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28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4DBC61-8D45-410C-8E1C-BB258A97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BE804B-785B-4F78-9B4F-DCA5AFDF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EF600B-A00C-41AF-98DC-C33B518B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957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Seata Server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E4A0E9-8001-403F-ACE7-63311579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1955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跨服务事务协调预留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8928D1-9D06-42A6-8CF4-FC8964D3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9000"/>
            <a:ext cx="228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36818D-7E27-478A-AAEB-BF763F64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90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95D713-BF14-4CBD-A394-02EF9006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763318-0409-4B2F-873D-B8B3322C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957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351EC8-5780-44F6-8B57-12045014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1955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异步消息与通知链路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96998A-8F05-4605-A0BC-7E029FFF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228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7797CD-61FC-4C1B-BB14-63F46F17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1A9838-518C-451B-8F50-FFA0ED54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147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BEDD65-0334-44E7-AB81-87A75FE8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957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6CB2BD-B892-4688-B6DC-697EBACA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1955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本地基础设施一键编排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40083E-E0CD-4356-9DCA-432586F3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29000"/>
            <a:ext cx="228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C59A38-C474-43F5-B703-B93A28AA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290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056210-E232-45FD-8911-8B498DF7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147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2C4320-9784-4CCF-B64A-2BF49C04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957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Node Runtime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0F971F-2EBD-4E43-9940-CAA6F6CD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1955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frontend 与 grab-service 运行支撑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B1DE0D-6D7E-42C2-819E-B76EFB5F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7DF256-6AE0-41C8-AFF5-6CBF2BEB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113F60-C92E-426B-ADAC-47BFF28C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91150"/>
            <a:ext cx="967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讲法建议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C2CDBA-B5E5-4E8B-8D67-567F10E0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95950"/>
            <a:ext cx="96774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先讲 PostgreSQL / Nacos 这些直接承载业务运行的组件，再讲 Seata / RabbitMQ / Redis / Docker / Node 如何支撑事务、异步、高并发和本地联调。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AAB4A1-CCBE-4653-B432-FC5216FC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4D2DAE-B1F4-4969-9EB6-D3714D2C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597582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8C3290-99A7-4B8C-96C7-1BC0F51B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68B1E-5596-44AC-AD95-8CED729C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8C49D-6BFD-427A-902B-374F77EC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C-END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4335E-AD09-456B-B358-18ED3312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 端购票从登录到支付结果是一条可现场演示的主链路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BB98D-61E6-49DF-93C5-818B9E03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登录请求使用 account 字段；订单状态以前端/后端统一的 1-4 编码展示。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89F93-BF8C-4118-B920-9683B10C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7974B-1879-400F-9417-D803BF15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C9983-CC35-45C1-925D-FA051FE3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30C61-280C-48AC-AE4C-D9DCE7EB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742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889E8-B429-4509-B95D-42C273FD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account + password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87B8D-DDEB-4D7D-A22B-D328550D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574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EE191-17D1-471D-AB70-A68C2BD0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0982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49749-6E4E-435F-8A07-5962B268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96215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12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374C2-E368-4BE0-9F98-018EFDD7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33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6D40E-7A47-4830-9B3C-363567BE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7C6074-BD1A-4364-A169-6EE28547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14550"/>
            <a:ext cx="742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浏览活动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CC4AD-07A2-482A-9D21-28C67003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90800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列表 / 搜索 / 详情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BB1CEF-567C-4477-950E-D5BC9E7F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574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2AFF71-6F7B-45AA-87F1-DD6682B1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982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A16703-1D3B-403B-A6F4-B1320504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6215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12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D2CE20-180F-409E-B8A6-B46A97BC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378C90-53B3-4E4E-BEC3-6DB6004A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6A6564-3E12-444E-A7CF-13EF07A5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14550"/>
            <a:ext cx="742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选择票档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AC133C-66A5-45DC-885D-54062DA3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90800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场次 / 票档 / 座位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C9A1B-5846-460C-911E-9CABFBC4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574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2B73F7-51C6-485B-A86A-FCFF5A7E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982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FB6096-5FAC-4506-BC98-9C2FBB26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6215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D9F8E2-C122-40FD-BC56-1B9BB37A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B4968C-A284-4FEB-8A60-378D84B0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9E812B-B20F-4230-BA47-BFA46FB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14550"/>
            <a:ext cx="742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创建订单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28DB8C-36D9-45AA-9CFD-D917E7F6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90800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锁库存 + 写快照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9F3A10-4449-4416-9DDF-A19A26E3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574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6B41AA-2F02-4327-BFC3-1E6805CE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982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D041BF-A10D-46EF-B02F-EF971E59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6215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8DE47F-93D8-4ED5-AF06-34AD87BF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AE4766-25C1-4B45-B003-3C48E2FB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F4296D-F6E5-4405-9D46-775526DD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14550"/>
            <a:ext cx="742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支付同步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C27CFD-0AF7-49DD-8A3F-324A1B42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90800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QR pay / callback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F6BA7B-D0E1-4BEA-9A11-585B3F4A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574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85FB7D-C8DA-4865-836F-BAE250C8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0982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24F0A2-0D3C-4C72-A7A7-17C817E7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6215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741564-B872-47FD-91B4-83AFE02C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133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2D1F85-E55E-4804-BE62-7FE0A6C4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5E11ED-6EF3-4D1A-8249-EF223507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114550"/>
            <a:ext cx="742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查看结果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024923-544B-4FDB-9F3E-20D5056F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590800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订单状态 / 通知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0F7179-B812-4C8B-AEE9-98438E05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E74F14-9ABC-4CC2-A2FA-DEDD38EC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827E06-8D03-476A-846A-8D3EACCC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用户服务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642832-D344-4107-97D6-C66DADB4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POST /api/user/login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JWT 写入 localStorage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FAB669-A921-41F9-8B05-633ED5D1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B3497A-BC50-4D4B-BE21-F21D7435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384D23-1108-48C3-A84B-3887352C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6715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票务服务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E1F0A4D-4810-4472-B6EB-843F8558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GET /api/ticket/activities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活动详情、场次、票档、座位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B22529-1E0F-45A1-BF3D-6326325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314ED1-54C0-4724-BC66-9F8A6F82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6EFD44D-D948-41E0-8C91-69042E86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715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订单服务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09089B3-4A7B-4927-8E49-179CCD58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7195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POST /api/order/create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校验用户、锁库存、写快照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F8A7B7-41F5-4ABF-908A-522272A1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14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BC96F8-8468-44A7-8E08-5CA0E56C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147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185305E-7A2B-471D-A3EC-AA8A2B3C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6715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支付服务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2A6D4A8-75B1-48A4-9CEC-05CF3119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7195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POST /api/payment/alipay/qr-pay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sync / notify 回写订单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6609877-ECD2-48D6-A8D2-DC839FAA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BAFDEA8-CDE5-4D4B-ACF9-499FBBCE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57800"/>
            <a:ext cx="929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订单状态：1 待支付 / 2 已支付 / 3 已取消 / 4 已退款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ED599F-BCC4-4499-ACF4-BAA7EE50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F9E3F13-5F7C-4AFD-8CAC-58BCB2F1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4140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E7E5DD-8132-4C0F-A3EB-E7180B0C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60EAA-F1CA-4F2A-A4E8-D225180A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48C93-B933-4DF3-B26C-5C4AD0A5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B-END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A1AFC-79BD-426E-B988-DEDF0C6D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B 端围绕“活动供给”组织后台工作流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9BA2C-6777-440D-8927-B7C89C78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主办方创建活动，管理员处理场馆、艺人、风险和审批，最终形成 C 端可售票务。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B7413-516F-4E90-A7DF-B561F6B0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600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9CE64-5833-44BB-A5E7-E3B11D71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782DF-0EFF-4AB9-9599-298EA19E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45499-A5D8-4A0A-89FD-5C8E455B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764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主办方申请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2F967-2020-45C8-9B6B-C59B632D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4315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user 服务</a:t>
            </a:r>
          </a:p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角色与申请审核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094BD-019B-43B8-9AF9-8E63B7E2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81200"/>
            <a:ext cx="1600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12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B74DD-022F-449A-A1F7-034C614E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22980-B710-4543-AD06-07438C24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336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533CD-1D3F-4A1F-AC35-C4F2A759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764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创建活动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CF08F-C393-4B9D-9629-07811888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4315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ticket/admin</a:t>
            </a:r>
          </a:p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活动基础信息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24D29-0F40-40DA-836F-189E603D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81200"/>
            <a:ext cx="1600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12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CBEBE-2AF4-4024-988A-2D47C390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BC5EF-F6D0-49C6-8919-E97A6FC9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336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C2824-BD0F-4B5C-9265-B5AEDEE7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764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配置场次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371185-5248-4C52-AC76-AF213B3F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4315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时间、场馆</a:t>
            </a:r>
          </a:p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活动排期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854C1B-586F-4EA0-95CB-467DA79C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81200"/>
            <a:ext cx="1600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12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5D00B5-BF74-46D3-BD5B-2F0872A4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A28318-170C-49E3-BF93-FCA76B94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336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ACD948-A91F-4ACB-8323-1B0EF81A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764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配置票档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8E635-A9BD-4176-822A-8FCB32F5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价格、库存</a:t>
            </a:r>
          </a:p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区域绑定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12D0D1-3A7E-4453-9C16-F0FEF9E6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81200"/>
            <a:ext cx="1600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12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834E41-6916-468C-A96F-E22FF378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95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13F87F-38E4-4061-8C2E-2778D464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336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AD92AA-53AF-4468-A9A4-F51F6F1B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764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座位图发布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C132C5-4337-4A3A-A4EB-7751DD78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4315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SeatCraft</a:t>
            </a:r>
          </a:p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模板/版本/回滚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93191A-DDA3-445D-8FDF-16BBB35C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622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8D023A-185F-4D69-87A8-CCBE6F6A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145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D5AE8F-E20A-4146-9D58-37E98F23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7F1F41-5C70-477C-9970-938458E3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145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CD9C34-E021-4FB1-BF61-39267C6A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2792F3-C173-4A1C-8BB0-13F25FB1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145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646C75-AFD7-4245-A198-C6D592F7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622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539096-7D35-4692-BE74-6DC7F8F4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145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9D59EF-657C-4F9E-9622-488E041A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055D90-A80F-4634-B251-B01AFAEF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583D12-FBF0-4899-AE76-2F7FC160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后台 Console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1DF80B-C718-418D-863C-DF465CF1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86200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页面集中在 frontend/src/app/console，包括 activities、sessions、venue、risk、refunds、reconciliation 等管理入口。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4E22F2-17AF-4136-8FD4-95DC2BDB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290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EEF25E-FC8A-482E-85F6-F9216832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290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B845FA-9F25-43B7-88EF-5AF558F7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814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票务服务核心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0A862A-106E-4DF8-81D3-84ED1321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86200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AdminController 聚合活动、场次、票档、场馆、SeatCraft、艺人、风险处理等 B 端能力。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8B9D52-E166-4087-96E0-60E9EA32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290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4C38E7-1943-4038-AE1D-E302BFCC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290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7A86C1-51C9-4137-B42A-CAB789EB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814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输出给 C 端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B090DE-3AC7-4AFB-9FE6-1CB7354F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86200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活动列表、活动详情、场次票档、座位可售状态，支撑用户下单。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68CDFF-8215-4A7E-9419-0F7FA15B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900583-9C61-45CB-A19B-C087E1CF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答辩现场建议：用一个活动从后台创建到 C 端展示，证明 B/C 端不是割裂页面。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BB87EA-94B7-42AD-8FD0-E969ED54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26B22C-BCC5-470B-93DD-ED2F62AD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149514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2E21A9-D5DF-450F-B5A4-7DED5328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9FDAE-45BF-4606-9E86-43CD89A9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9932B-794D-41D0-B991-2A5C0BA1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GROUP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6F844-8CBF-4DE8-B4A3-FA7AD47E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第 1 组讲清楚“用户怎么进系统，权限怎么传递”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2CEBB-0AFB-48A7-BBF3-2322D0F7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这一组承担答辩开场：先让系统跑起来，再解释登录、JWT、角色和网关路由。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969D7-3AF0-4424-A5C7-72A62530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3238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47C77-0E4D-40D2-A301-4D7AA252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E0592-4D36-41B1-BD92-9A9A8BE8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负责模块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3AB98-E025-41F6-930B-ED8EBB47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2914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java-user、java-gateway、前端登录/注册/个人中心/Console 权限入口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4DBE2-F51C-47B5-A1AD-6980D5D2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3238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CA84C-CA25-4D31-B0BF-3850F634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CF403-2308-4478-9E6D-77E1AAE4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核心接口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D7AB1-33E1-429A-9CDA-2837A69A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2914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POST /api/user/login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GET /api/user/info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GET /api/user/internal/{id}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C0DFC-821B-4EAA-BB55-302536CE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3238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03A56-A30B-481F-B5FA-FEEA591D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D31BF-2820-49D3-AD66-F558527B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关键证明点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F0CE2-8552-442A-85B7-572C8F6E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2914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JWT 包含 userId、phone、role；internal API 使用 X-Internal-Token 防止外部调用。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A3B2F4-D0B5-47D7-9D11-4ADDDD42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669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B359F8-F3F1-4603-8C5E-63353E45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669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29C62-04A8-434C-82B1-F9EDFCA8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383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E4DA6D-26BD-4DE4-8B32-C2FE7905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2410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login/register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localStorage auth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0E9D8F-D4F0-4EBB-8C69-75225D02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669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84D93F-315C-4010-A388-FC2FB16B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669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0D20B3-43D1-4C17-B46B-51123DEA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383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Gateway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8C908A-F591-4A8C-AE2B-F3C42106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:8088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路由 /api/**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0ECB6E-8FD0-413F-A802-5BD867D2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669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34EB8E-4FC3-4258-850A-6E19590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669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EAAC5D-7B23-4771-8A46-6CC1D996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383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CE1656-3530-4DA2-AE5E-12481784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2410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:8081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账号/角色/JWT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A4D5D3-063B-489C-A46B-BE2B091B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5742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DB5980-5067-4BBE-84F6-82D079AF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B6C3E2-FD0B-4424-B3E1-AF5F6A95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5742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FB72FE-A80A-4011-9052-70DF1291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098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4A75C4-D253-4E8C-B3B1-F5002E8C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76625"/>
            <a:ext cx="590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562C52-3483-4EF6-AC31-1F7E23BC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答辩讲法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055F03-C32E-47C9-9817-DE86479E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957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先现场登录普通用户，再打开 token/user 信息说明前端认证状态如何驱动后续购票流程。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AD76E6-5D0D-4AD0-ACBC-8F4CDCB6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7D3A87-D0F6-4296-9709-F2144603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26484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21806E-9676-40F8-920D-80AE1109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6FBA0-A2B3-4458-8293-82158DF1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9E2ED-D7F0-4BB1-96C2-AFB65851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GROUP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34B26-F9F9-4AF1-A1AB-FC49DAD9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第 2 组负责票务供给和库存/座位这一核心复杂度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03280-FE1A-46D4-BCC9-179BD21E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票务服务是活动、场次、票档、座位图和锁库存能力的集中体现。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03083-4C3A-44B0-AE06-8A0F2EBB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12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98289-A36D-47A5-95F3-312D202B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E9746-49D4-419A-AF36-2FD3E3F8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Activity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263C0-10C4-4869-BF70-5FE7FB66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活动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category/artist/venue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D704A-A85B-4240-949B-D198B661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12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94B79-9589-4C14-94A7-41977CB7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9AC48-85EA-4A21-B9FB-B14F8AFB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717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C10F8-4619-48B2-91AA-05FDB3D8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574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场次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时间/场馆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26333-B8F4-46D8-8685-9D222DE4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12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15DECB-1D47-41B5-A8C2-A0E3003C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DF822-968F-47C4-99ED-742492CF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717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TicketType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A47469-5B4F-4988-86C3-3926FEF5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574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票档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价格/库存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DF6F4F-F8B4-4E30-97F3-0DC92CE8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12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23843D-E4DC-4FEA-948D-9D51C694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3FF60-1003-46AA-93B8-9A9ADCFD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717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SeatCraft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255381-DE4D-41C2-9CE3-89256A41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574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座位图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模板/分区/版本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A1141-E45B-4C0D-B5CA-93A6626D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33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7144F8-05E6-4777-924A-1C217434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4E252E-A0BA-4AF2-9A96-CEA800F8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7170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Internal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80E575-00DB-4ECB-84BC-6EAEF067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574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quote/lock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confirm/release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F4FC45-850D-49C5-ACCD-7DB14864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7172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B98823-EE02-4680-AC7A-C58D69C2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241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8BD8C9-207D-4236-B546-A6D96902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7172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0883C2-5CC6-4F42-9642-B08099F9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241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8C59FB-EBA7-4DA9-B451-81671AEC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7172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C7381D-EE10-4DCD-A269-26272597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126336-FA73-4C88-A943-440D677E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7172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ED1BD8-6DEB-45F5-8EB5-FF28D36F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241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74F369-F427-414D-AB31-667FE1A6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FA97E3-1DAD-4BBB-B7EB-C07CF774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6609C1-19C3-47DA-A497-1DE284B6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给 B 端讲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7F299E-7A84-4FFE-9B38-F4DE708C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2533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活动创建、场次配置、票档绑定、SeatCraft 座位图从模板到发布。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3B669F-3B39-4A6B-B59D-71D2F03C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417E75-65CB-46FE-9C04-9E8DEEDC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9F143C-A9D0-43A9-B533-F034EC1D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7190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给 C 端讲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B64DA8-D93D-4B78-B451-65651550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76700"/>
            <a:ext cx="2533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活动列表和详情展示，选择场次、票档和座位后进入下单。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A3850F-D4DE-44A4-8C6B-5A005BF4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B3832C-1536-4879-A337-65FB4AF4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13D181-9DFE-4617-BB71-B7F02303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7190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给订单讲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A552B6-251C-4C42-9DA5-E1A2AED0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2533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通过 internal API 报价、锁库存/锁座、确认售出、释放库存。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BB1E63-2032-4858-937D-03876DFC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81625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关键边界：java-ticket 不直接写订单，只提供票务事实和库存动作给 java-order 调用。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F06CC4-55BA-4CE9-984F-C8FCA123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8DDB2B-131E-4E37-BEF0-0A72C7C9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067692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8C54E2-F962-4D8E-AB39-746A0A3D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E652F-DC1F-4C03-BE94-6802A655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5767D-0E13-4E64-8DA7-E5FE6A61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GROUP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E7823-AC63-434E-AD82-27A755CB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第 3 组讲交易闭环：订单、支付和通知共同收口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2D364-0ADC-4F6E-9E67-EBFD5487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订单服务保存快照，支付服务负责沙盒支付与同步，通知服务承接消息结果。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E8580-2E33-466E-A5C2-BEDEDFDA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43541-EB5E-415E-915D-4157C7F7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09CD7-38C5-425A-902E-445E0239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83684-0FD2-4B39-98B2-CA08D8A1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145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待支付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3CA25-4C5B-401D-A524-EF23326B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812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STATUS_PENDING = 1</a:t>
            </a:r>
          </a:p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创建订单并锁库存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4FDEE-DA39-47C4-8AA0-04EF3AEE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193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FFAF7-95E8-4779-970C-FA06E1C2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336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3583F-D570-4DD4-8F1F-522D7B47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717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0DD13-4704-4EF5-A5A3-D226F34B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145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支付中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570BB-D0F8-4E31-A418-317BE7E3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812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支付宝 QR / page pay</a:t>
            </a:r>
          </a:p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等待同步或回调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611C4-350C-433C-A420-B72FC8CA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193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CD1D1-7FC6-4152-97A7-D03A86C9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336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D37AF-2026-47BE-88DA-E1C8D35D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717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549E24-D78C-468E-A546-E3D03251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已支付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231BA3-5E8D-457D-83DF-6BB9CCED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Payment -&gt; Order</a:t>
            </a:r>
          </a:p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标记 paid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5C265-64E2-4AB3-9A94-95A83B26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D4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67B82E-776A-48DC-B601-005D1648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336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CCBE9-1E41-4536-A1EF-3EC654F5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717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9C758C-BA5C-42CE-8CAD-4019E664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145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通知/查看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B80D40-6995-4C7F-AB94-2B27A158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812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站内消息</a:t>
            </a:r>
          </a:p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订单列表展示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B8FB39-D022-454B-8B80-71F97D11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622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87C3CC-4225-489B-BAED-0F3CE680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145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21CD47-E7A6-411A-A7EC-DCEF61EE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47EA53-AADA-4C76-8C90-08C957AF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145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B42436-E84F-4ECB-825D-7EFF9AC5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622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245504-9F4A-40DF-B365-604A2ED1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145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C1256C-3EA2-413C-9502-7030B3C2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2A2817-C382-430A-AFDF-22EDE3DE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B55B85-6313-4AA0-9FEB-40C74037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java-order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158D38-AFE8-43B5-8FF0-16796BB3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2533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创建订单、写 order_snapshot、订单状态流转、取消/退款入口、内部 paid/refunded 接口。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010D31-2510-4A7B-9C58-62707ED0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433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E8271A-E79D-44DE-B28B-84BBF5AB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433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E3ABA1-38BE-4F62-8141-1A301AE0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9570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java-payment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4DB197-117C-4607-A2B2-73C244B3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2533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支付宝沙盒 QR/page pay、notify、sync、退款审核与订单回写。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CF1512-1D2E-4ECB-8753-BC421624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2D2ED8-8795-4A80-A654-803DA815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D7E95F-58E0-4E3F-AB85-71C480E6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java-notification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9F93B0-BE47-47D9-B458-DAE989F5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533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通知消息是 copied id，不跨查 user/order 表，只保存通知归属与内容。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0C2B28-805E-436A-ACAE-454DAA2A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34000"/>
            <a:ext cx="8896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AEBCC3-FF1F-4E4F-A513-6E9259E5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48300"/>
            <a:ext cx="832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演示重点：创建订单 -&gt; 获取支付二维码 -&gt; 支付同步 -&gt; 订单状态从 1 变为 2。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5B0BCE-78C0-4087-BD2F-F00BACE7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EEBD65-12BE-4F66-AFFE-D6DB5563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1160906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230A5B-663D-4BD9-BDE8-EE4C5F52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1404C-5B38-4AC0-AC16-A4EEB8DC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432C3-1A4F-4DAF-A79F-BEF355F7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13BEE-3B46-4A56-9026-AFC09EC9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验收命令和演示路径让答辩从“能讲”变成“能证明”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4493D-6D80-4002-A9FD-3C9C3028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把边界检查、前端类型检查和 prod-split runtime verifier 作为答辩支撑材料。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6469C-3417-4319-BE8B-4DC778E0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79796-3AFA-4FA1-90DC-D03A0BFD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F105F-3549-4D69-8655-C2192C14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边界验收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57A66-5676-461B-BA25-CFED0EAB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powershell -ExecutionPolicy Bypass -File scripts/verify-microservice-boundaries.ps1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EF6CC-4481-4C07-AB45-054A2853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3D58C-85F3-47F4-829D-14ED08AD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7C4AF-5626-4EC5-9CAC-8E1E1229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05000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前端检查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2D1B1-7583-4FF7-A8C2-E690F5BC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09800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cd frontend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pnpm typecheck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28986-6750-4165-86C0-9E0193FD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DBC4F-C3F4-4BE3-8F64-3B6D8882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0D089-DE04-46BF-AD8B-A7C92652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运行库检查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7D20E6-FF14-409A-B748-3FE07C2E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$env:PGPASSWORD='123456'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psql -h localhost -p 5432 -U postgres -d postgres -t -A -c "SELECT datname, application_name, state FROM pg_stat_activity WHERE datname LIKE 'omni%' ..."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C2795-65A6-4FD8-B0D4-A74F7C64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146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B7CA0-C96F-4FE0-9CD6-7086BF77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146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E2A3C5-0F53-4206-9B59-2EDB3247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67050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Runtime verifier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81812A-A4BF-4538-A529-5D8D665B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7185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scripts/verify-production-split-runtime.ps1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-TargetDatabaseByService 'ticket=omni_ticket_split'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F42FC8-EC34-4988-B6C0-DF7E4A29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00600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449860-3145-4E47-83E0-76F3E2F3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现场演示路径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AB43B4-0456-4E54-9882-F161281D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800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登录 -&gt; 浏览活动 -&gt; 活动详情 -&gt; 选择场次/票档/座位 -&gt; 创建订单 -&gt; 支付同步 -&gt; 查看订单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35BDE8-1351-44CC-B198-3683ED0C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6C5088-AA87-40C5-836F-54CD9A11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7483789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ACE207-9828-4B97-AA38-88841695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45926-B370-4186-BC98-74D8410B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三组协作，串起一条完整票务平台链路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9C903-8DF4-4641-AE80-8A26DE1C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4780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用户入口负责身份，票务核心负责供给，交易闭环负责结果。每组都有明确边界，也能在演示中前后衔接。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87F72-F325-4455-83E6-C21A7FB4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5F0A2-A361-4A9C-A18B-6D4BB530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845AF-5FB1-470B-8557-F3783044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第 1 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EE507-5307-4D43-80EF-E67E5730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76600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用户与入口层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登录 / JWT / Gateway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7D88B-EC97-46A9-83F1-3AD2AF6B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194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12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4BE35-B5F9-4BEB-B328-72679FBF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194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A2C1D-2C7C-446E-AE35-089A5A87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908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第 2 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D7AF2-C3B5-45F6-9044-CDA5D9F1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76600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票务核心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活动 / 票档 / 座位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1587E-009C-45F1-9621-0F5A676C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194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28340-F8A9-462A-BE47-441766F2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194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25050-0954-4EC5-94C6-1D1E7B5F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908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第 3 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39508-2AD8-4D78-B356-D9935972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76600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交易闭环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订单 / 支付 / 通知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7B0057-BF07-4879-9300-B137E365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194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3A452-8C0B-4367-9A73-3448CCB7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7182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DD5C0-48D4-4E71-A259-7E780CA9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194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5EAE6F-F47F-474B-A522-DE39D405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7182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7EB5D-EBF8-40B9-972F-815C89BD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762500"/>
            <a:ext cx="8153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49F493-80B3-48C7-9DEE-CDB824EC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33950"/>
            <a:ext cx="739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答辩收束句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16890D-35BF-4F5D-92F6-465EB65D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38750"/>
            <a:ext cx="7391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这个项目的价值不在于服务数量，而在于服务边界清晰、业务链路完整、能够本机联调验证。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3C58A9-6359-43B3-8965-739E8B24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FB6CA8-AC21-4642-BFB4-FAA82869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74517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2026-06-03T15:37:18.9480000Z</dcterms:created>
  <dcterms:modified xsi:type="dcterms:W3CDTF">2026-06-03T15:37:18.9480000Z</dcterms:modified>
</coreProperties>
</file>